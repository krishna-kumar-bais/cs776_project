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6858000" cx="12192000"/>
  <p:notesSz cx="6858000" cy="9144000"/>
  <p:embeddedFontLst>
    <p:embeddedFont>
      <p:font typeface="Montserrat SemiBold"/>
      <p:regular r:id="rId22"/>
      <p:bold r:id="rId23"/>
      <p:italic r:id="rId24"/>
      <p:boldItalic r:id="rId25"/>
    </p:embeddedFont>
    <p:embeddedFont>
      <p:font typeface="Plus Jakarta Sans"/>
      <p:regular r:id="rId26"/>
      <p:bold r:id="rId27"/>
      <p:italic r:id="rId28"/>
      <p:boldItalic r:id="rId29"/>
    </p:embeddedFont>
    <p:embeddedFont>
      <p:font typeface="Inter"/>
      <p:regular r:id="rId30"/>
      <p:bold r:id="rId31"/>
      <p:italic r:id="rId32"/>
      <p:boldItalic r:id="rId33"/>
    </p:embeddedFont>
    <p:embeddedFont>
      <p:font typeface="Inter Medium"/>
      <p:regular r:id="rId34"/>
      <p:bold r:id="rId35"/>
      <p:italic r:id="rId36"/>
      <p:boldItalic r:id="rId37"/>
    </p:embeddedFont>
    <p:embeddedFont>
      <p:font typeface="Open Sans Light"/>
      <p:regular r:id="rId38"/>
      <p:bold r:id="rId39"/>
      <p:italic r:id="rId40"/>
      <p:boldItalic r:id="rId41"/>
    </p:embeddedFont>
    <p:embeddedFont>
      <p:font typeface="Open Sans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B70CFA0-F266-41A3-BB7F-203E21D7C8B1}">
  <a:tblStyle styleId="{6B70CFA0-F266-41A3-BB7F-203E21D7C8B1}" styleName="Table_0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rgbClr val="FFFFFF"/>
      </a:tcTxStyle>
      <a:tcStyle>
        <a:fill>
          <a:solidFill>
            <a:srgbClr val="4F81BD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fill>
          <a:solidFill>
            <a:srgbClr val="4F81BD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top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4F81BD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bottom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4F81BD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penSansLight-italic.fntdata"/><Relationship Id="rId20" Type="http://schemas.openxmlformats.org/officeDocument/2006/relationships/slide" Target="slides/slide14.xml"/><Relationship Id="rId42" Type="http://schemas.openxmlformats.org/officeDocument/2006/relationships/font" Target="fonts/OpenSans-regular.fntdata"/><Relationship Id="rId41" Type="http://schemas.openxmlformats.org/officeDocument/2006/relationships/font" Target="fonts/OpenSansLight-boldItalic.fntdata"/><Relationship Id="rId22" Type="http://schemas.openxmlformats.org/officeDocument/2006/relationships/font" Target="fonts/MontserratSemiBold-regular.fntdata"/><Relationship Id="rId44" Type="http://schemas.openxmlformats.org/officeDocument/2006/relationships/font" Target="fonts/OpenSans-italic.fntdata"/><Relationship Id="rId21" Type="http://schemas.openxmlformats.org/officeDocument/2006/relationships/slide" Target="slides/slide15.xml"/><Relationship Id="rId43" Type="http://schemas.openxmlformats.org/officeDocument/2006/relationships/font" Target="fonts/OpenSans-bold.fntdata"/><Relationship Id="rId24" Type="http://schemas.openxmlformats.org/officeDocument/2006/relationships/font" Target="fonts/MontserratSemiBold-italic.fntdata"/><Relationship Id="rId23" Type="http://schemas.openxmlformats.org/officeDocument/2006/relationships/font" Target="fonts/MontserratSemiBold-bold.fntdata"/><Relationship Id="rId45" Type="http://schemas.openxmlformats.org/officeDocument/2006/relationships/font" Target="fonts/OpenSans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lusJakartaSans-regular.fntdata"/><Relationship Id="rId25" Type="http://schemas.openxmlformats.org/officeDocument/2006/relationships/font" Target="fonts/MontserratSemiBold-boldItalic.fntdata"/><Relationship Id="rId28" Type="http://schemas.openxmlformats.org/officeDocument/2006/relationships/font" Target="fonts/PlusJakartaSans-italic.fntdata"/><Relationship Id="rId27" Type="http://schemas.openxmlformats.org/officeDocument/2006/relationships/font" Target="fonts/PlusJakartaSans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lusJakartaSans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nter-bold.fntdata"/><Relationship Id="rId30" Type="http://schemas.openxmlformats.org/officeDocument/2006/relationships/font" Target="fonts/Inter-regular.fntdata"/><Relationship Id="rId11" Type="http://schemas.openxmlformats.org/officeDocument/2006/relationships/slide" Target="slides/slide5.xml"/><Relationship Id="rId33" Type="http://schemas.openxmlformats.org/officeDocument/2006/relationships/font" Target="fonts/Inter-boldItalic.fntdata"/><Relationship Id="rId10" Type="http://schemas.openxmlformats.org/officeDocument/2006/relationships/slide" Target="slides/slide4.xml"/><Relationship Id="rId32" Type="http://schemas.openxmlformats.org/officeDocument/2006/relationships/font" Target="fonts/Inter-italic.fntdata"/><Relationship Id="rId13" Type="http://schemas.openxmlformats.org/officeDocument/2006/relationships/slide" Target="slides/slide7.xml"/><Relationship Id="rId35" Type="http://schemas.openxmlformats.org/officeDocument/2006/relationships/font" Target="fonts/InterMedium-bold.fntdata"/><Relationship Id="rId12" Type="http://schemas.openxmlformats.org/officeDocument/2006/relationships/slide" Target="slides/slide6.xml"/><Relationship Id="rId34" Type="http://schemas.openxmlformats.org/officeDocument/2006/relationships/font" Target="fonts/InterMedium-regular.fntdata"/><Relationship Id="rId15" Type="http://schemas.openxmlformats.org/officeDocument/2006/relationships/slide" Target="slides/slide9.xml"/><Relationship Id="rId37" Type="http://schemas.openxmlformats.org/officeDocument/2006/relationships/font" Target="fonts/InterMedium-boldItalic.fntdata"/><Relationship Id="rId14" Type="http://schemas.openxmlformats.org/officeDocument/2006/relationships/slide" Target="slides/slide8.xml"/><Relationship Id="rId36" Type="http://schemas.openxmlformats.org/officeDocument/2006/relationships/font" Target="fonts/InterMedium-italic.fntdata"/><Relationship Id="rId17" Type="http://schemas.openxmlformats.org/officeDocument/2006/relationships/slide" Target="slides/slide11.xml"/><Relationship Id="rId39" Type="http://schemas.openxmlformats.org/officeDocument/2006/relationships/font" Target="fonts/OpenSansLight-bold.fntdata"/><Relationship Id="rId16" Type="http://schemas.openxmlformats.org/officeDocument/2006/relationships/slide" Target="slides/slide10.xml"/><Relationship Id="rId38" Type="http://schemas.openxmlformats.org/officeDocument/2006/relationships/font" Target="fonts/OpenSansLight-regular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e8b7ec9f3_5_1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ce8b7ec9f3_5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ce8b7ec9f3_5_18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ce8b7ec9f3_5_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ce8b7ec9f3_5_2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ce8b7ec9f3_5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ce8b7ec9f3_5_2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ce8b7ec9f3_5_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ce8b7ec9f3_5_3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ce8b7ec9f3_5_3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ce8b7ec9f3_5_27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ce8b7ec9f3_5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ce8b7ec9f3_5_36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3ce8b7ec9f3_5_3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TITLEANDBULLETS_D">
  <p:cSld name="TITLE_AND_BODY_2_1_1_1_1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/>
          <p:nvPr>
            <p:ph idx="2" type="pic"/>
          </p:nvPr>
        </p:nvSpPr>
        <p:spPr>
          <a:xfrm>
            <a:off x="296299" y="316350"/>
            <a:ext cx="4510800" cy="451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82" name="Google Shape;82;p13"/>
          <p:cNvSpPr txBox="1"/>
          <p:nvPr>
            <p:ph type="title"/>
          </p:nvPr>
        </p:nvSpPr>
        <p:spPr>
          <a:xfrm>
            <a:off x="5151925" y="289525"/>
            <a:ext cx="3548100" cy="109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" type="body"/>
          </p:nvPr>
        </p:nvSpPr>
        <p:spPr>
          <a:xfrm>
            <a:off x="5151925" y="1565671"/>
            <a:ext cx="3548100" cy="328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431800" lvl="0" marL="457200">
              <a:spcBef>
                <a:spcPts val="640"/>
              </a:spcBef>
              <a:spcAft>
                <a:spcPts val="0"/>
              </a:spcAft>
              <a:buSzPts val="3200"/>
              <a:buChar char="•"/>
              <a:defRPr/>
            </a:lvl1pPr>
            <a:lvl2pPr indent="-406400" lvl="1" marL="914400">
              <a:spcBef>
                <a:spcPts val="560"/>
              </a:spcBef>
              <a:spcAft>
                <a:spcPts val="0"/>
              </a:spcAft>
              <a:buSzPts val="2800"/>
              <a:buChar char="–"/>
              <a:defRPr/>
            </a:lvl2pPr>
            <a:lvl3pPr indent="-381000" lvl="2" marL="1371600">
              <a:spcBef>
                <a:spcPts val="480"/>
              </a:spcBef>
              <a:spcAft>
                <a:spcPts val="0"/>
              </a:spcAft>
              <a:buSzPts val="2400"/>
              <a:buChar char="•"/>
              <a:defRPr/>
            </a:lvl3pPr>
            <a:lvl4pPr indent="-355600" lvl="3" marL="1828800">
              <a:spcBef>
                <a:spcPts val="400"/>
              </a:spcBef>
              <a:spcAft>
                <a:spcPts val="0"/>
              </a:spcAft>
              <a:buSzPts val="2000"/>
              <a:buChar char="–"/>
              <a:defRPr/>
            </a:lvl4pPr>
            <a:lvl5pPr indent="-355600" lvl="4" marL="2286000">
              <a:spcBef>
                <a:spcPts val="400"/>
              </a:spcBef>
              <a:spcAft>
                <a:spcPts val="0"/>
              </a:spcAft>
              <a:buSzPts val="2000"/>
              <a:buChar char="»"/>
              <a:defRPr/>
            </a:lvl5pPr>
            <a:lvl6pPr indent="-355600" lvl="5" marL="27432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indent="-355600" lvl="6" marL="32004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indent="-355600" lvl="7" marL="36576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indent="-355600" lvl="8" marL="41148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288">
          <p15:clr>
            <a:srgbClr val="E46962"/>
          </p15:clr>
        </p15:guide>
        <p15:guide id="2" orient="horz" pos="288">
          <p15:clr>
            <a:srgbClr val="E46962"/>
          </p15:clr>
        </p15:guide>
        <p15:guide id="3" orient="horz" pos="2880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1.jp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7.png"/><Relationship Id="rId10" Type="http://schemas.openxmlformats.org/officeDocument/2006/relationships/image" Target="../media/image26.png"/><Relationship Id="rId13" Type="http://schemas.openxmlformats.org/officeDocument/2006/relationships/image" Target="../media/image22.png"/><Relationship Id="rId1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9.png"/><Relationship Id="rId4" Type="http://schemas.openxmlformats.org/officeDocument/2006/relationships/image" Target="../media/image4.png"/><Relationship Id="rId9" Type="http://schemas.openxmlformats.org/officeDocument/2006/relationships/image" Target="../media/image8.png"/><Relationship Id="rId15" Type="http://schemas.openxmlformats.org/officeDocument/2006/relationships/image" Target="../media/image18.png"/><Relationship Id="rId14" Type="http://schemas.openxmlformats.org/officeDocument/2006/relationships/image" Target="../media/image12.png"/><Relationship Id="rId17" Type="http://schemas.openxmlformats.org/officeDocument/2006/relationships/image" Target="../media/image14.png"/><Relationship Id="rId16" Type="http://schemas.openxmlformats.org/officeDocument/2006/relationships/image" Target="../media/image15.png"/><Relationship Id="rId5" Type="http://schemas.openxmlformats.org/officeDocument/2006/relationships/image" Target="../media/image3.png"/><Relationship Id="rId19" Type="http://schemas.openxmlformats.org/officeDocument/2006/relationships/image" Target="../media/image16.png"/><Relationship Id="rId6" Type="http://schemas.openxmlformats.org/officeDocument/2006/relationships/image" Target="../media/image1.png"/><Relationship Id="rId18" Type="http://schemas.openxmlformats.org/officeDocument/2006/relationships/image" Target="../media/image20.png"/><Relationship Id="rId7" Type="http://schemas.openxmlformats.org/officeDocument/2006/relationships/image" Target="../media/image24.png"/><Relationship Id="rId8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9" Type="http://schemas.openxmlformats.org/officeDocument/2006/relationships/image" Target="../media/image29.jpg"/><Relationship Id="rId5" Type="http://schemas.openxmlformats.org/officeDocument/2006/relationships/image" Target="../media/image9.png"/><Relationship Id="rId6" Type="http://schemas.openxmlformats.org/officeDocument/2006/relationships/image" Target="../media/image25.png"/><Relationship Id="rId7" Type="http://schemas.openxmlformats.org/officeDocument/2006/relationships/image" Target="../media/image31.png"/><Relationship Id="rId8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23.png"/><Relationship Id="rId5" Type="http://schemas.openxmlformats.org/officeDocument/2006/relationships/image" Target="../media/image13.png"/><Relationship Id="rId6" Type="http://schemas.openxmlformats.org/officeDocument/2006/relationships/image" Target="../media/image4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27.png"/><Relationship Id="rId5" Type="http://schemas.openxmlformats.org/officeDocument/2006/relationships/image" Target="../media/image3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6.png"/><Relationship Id="rId4" Type="http://schemas.openxmlformats.org/officeDocument/2006/relationships/image" Target="../media/image44.png"/><Relationship Id="rId9" Type="http://schemas.openxmlformats.org/officeDocument/2006/relationships/image" Target="../media/image38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Relationship Id="rId7" Type="http://schemas.openxmlformats.org/officeDocument/2006/relationships/image" Target="../media/image42.png"/><Relationship Id="rId8" Type="http://schemas.openxmlformats.org/officeDocument/2006/relationships/image" Target="../media/image4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33.png"/><Relationship Id="rId9" Type="http://schemas.openxmlformats.org/officeDocument/2006/relationships/image" Target="../media/image43.png"/><Relationship Id="rId5" Type="http://schemas.openxmlformats.org/officeDocument/2006/relationships/image" Target="../media/image34.png"/><Relationship Id="rId6" Type="http://schemas.openxmlformats.org/officeDocument/2006/relationships/image" Target="../media/image28.png"/><Relationship Id="rId7" Type="http://schemas.openxmlformats.org/officeDocument/2006/relationships/image" Target="../media/image35.png"/><Relationship Id="rId8" Type="http://schemas.openxmlformats.org/officeDocument/2006/relationships/image" Target="../media/image32.png"/></Relationships>
</file>

<file path=ppt/slides/_rels/slide13.xml.rels><?xml version="1.0" encoding="UTF-8" standalone="yes"?><Relationships xmlns="http://schemas.openxmlformats.org/package/2006/relationships"><Relationship Id="rId11" Type="http://schemas.openxmlformats.org/officeDocument/2006/relationships/image" Target="../media/image53.png"/><Relationship Id="rId10" Type="http://schemas.openxmlformats.org/officeDocument/2006/relationships/image" Target="../media/image5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48.png"/><Relationship Id="rId9" Type="http://schemas.openxmlformats.org/officeDocument/2006/relationships/image" Target="../media/image39.png"/><Relationship Id="rId5" Type="http://schemas.openxmlformats.org/officeDocument/2006/relationships/image" Target="../media/image54.png"/><Relationship Id="rId6" Type="http://schemas.openxmlformats.org/officeDocument/2006/relationships/image" Target="../media/image50.png"/><Relationship Id="rId7" Type="http://schemas.openxmlformats.org/officeDocument/2006/relationships/image" Target="../media/image55.png"/><Relationship Id="rId8" Type="http://schemas.openxmlformats.org/officeDocument/2006/relationships/image" Target="../media/image5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Relationship Id="rId4" Type="http://schemas.openxmlformats.org/officeDocument/2006/relationships/image" Target="../media/image56.png"/><Relationship Id="rId5" Type="http://schemas.openxmlformats.org/officeDocument/2006/relationships/image" Target="../media/image47.png"/><Relationship Id="rId6" Type="http://schemas.openxmlformats.org/officeDocument/2006/relationships/image" Target="../media/image5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4"/>
          <p:cNvPicPr preferRelativeResize="0"/>
          <p:nvPr/>
        </p:nvPicPr>
        <p:blipFill rotWithShape="1">
          <a:blip r:embed="rId3">
            <a:alphaModFix/>
          </a:blip>
          <a:srcRect b="0" l="387" r="387" t="0"/>
          <a:stretch/>
        </p:blipFill>
        <p:spPr>
          <a:xfrm>
            <a:off x="0" y="-2787"/>
            <a:ext cx="12192000" cy="68635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1900">
        <p:push dir="r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1525" y="2320230"/>
            <a:ext cx="2519362" cy="17506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81387" y="2320230"/>
            <a:ext cx="2519362" cy="17506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1250" y="2320230"/>
            <a:ext cx="2519362" cy="17506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901112" y="2320230"/>
            <a:ext cx="2519362" cy="17506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27844" y="4261395"/>
            <a:ext cx="3051720" cy="17506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70065" y="4261395"/>
            <a:ext cx="3051720" cy="17506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812285" y="4261395"/>
            <a:ext cx="3051720" cy="17506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779793" y="2520255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472630" y="4461420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714851" y="4461420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957071" y="446142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/>
        </p:nvSpPr>
        <p:spPr>
          <a:xfrm>
            <a:off x="771525" y="1664940"/>
            <a:ext cx="106489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 Medium"/>
                <a:ea typeface="Inter Medium"/>
                <a:cs typeface="Inter Medium"/>
                <a:sym typeface="Inter Medium"/>
              </a:rPr>
              <a:t>Deep Learning for Computer Vision Course Project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1066085" y="3425130"/>
            <a:ext cx="1930241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Maradana Kasi Sri Roshan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1240631" y="3672780"/>
            <a:ext cx="15813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75">
              <a:solidFill>
                <a:srgbClr val="2563EB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07" name="Google Shape;107;p15"/>
          <p:cNvSpPr txBox="1"/>
          <p:nvPr/>
        </p:nvSpPr>
        <p:spPr>
          <a:xfrm>
            <a:off x="4020978" y="3425130"/>
            <a:ext cx="144018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Krishna Kumar Bais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4055268" y="3672780"/>
            <a:ext cx="1371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6790848" y="3425130"/>
            <a:ext cx="132016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Mahathi Garapati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6607968" y="3672780"/>
            <a:ext cx="1686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9435703" y="3425130"/>
            <a:ext cx="1450181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Daksh Kumar Singh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9603581" y="3672780"/>
            <a:ext cx="1114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2103536" y="5366295"/>
            <a:ext cx="1500187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Sontam Deekshitha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2167830" y="5613945"/>
            <a:ext cx="1371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4960709" y="5366295"/>
            <a:ext cx="2270283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Chinthapudi Gowtham Chand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5305276" y="5613945"/>
            <a:ext cx="15813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8422957" y="5366295"/>
            <a:ext cx="1830228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Sevak Baliram Shekokar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8495109" y="5613945"/>
            <a:ext cx="1686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771525" y="581025"/>
            <a:ext cx="11181397" cy="485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Team Members</a:t>
            </a:r>
            <a:endParaRPr/>
          </a:p>
        </p:txBody>
      </p:sp>
      <p:sp>
        <p:nvSpPr>
          <p:cNvPr id="120" name="Google Shape;120;p15"/>
          <p:cNvSpPr/>
          <p:nvPr/>
        </p:nvSpPr>
        <p:spPr>
          <a:xfrm>
            <a:off x="556900" y="633413"/>
            <a:ext cx="136200" cy="38100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1" name="Google Shape;121;p1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588656" y="2537380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4360068" y="2520255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5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7069931" y="2520255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5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9779793" y="2520255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5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2472630" y="4461420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5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5714851" y="4461420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5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8957071" y="4461420"/>
            <a:ext cx="762000" cy="7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2" name="Google Shape;13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1053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081956"/>
            <a:ext cx="50387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 txBox="1"/>
          <p:nvPr/>
        </p:nvSpPr>
        <p:spPr>
          <a:xfrm>
            <a:off x="771525" y="1400175"/>
            <a:ext cx="5290661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Safety-Critical Failures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771525" y="1828800"/>
            <a:ext cx="5038725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Build an object detector that knows when it should NOT be trusted by separating image-level noise from model-level ignorance, providing calibrated confidence scores.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1104900" y="2794545"/>
            <a:ext cx="47053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Overconfident Scores: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Current detectors output a softmax score (e.g. 80%) that doesn't reflect true reliability. They can be wrong with no warning.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1104900" y="3807916"/>
            <a:ext cx="47053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No Uncertainty Separation: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 blurry image (data problem) and a rare object class (model problem) require different responses, but are treated identically.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1104900" y="4821287"/>
            <a:ext cx="47053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Poor Calibration (High ECE):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For DETR and Deformable DETR, '80% confident' does not mean 80% accurate. They are systematically overconfident.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1104900" y="5834657"/>
            <a:ext cx="470535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Unsafe for Deployment: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In autonomous driving or medical imaging, silent failures are dangerous.</a:t>
            </a:r>
            <a:endParaRPr/>
          </a:p>
        </p:txBody>
      </p:sp>
      <p:pic>
        <p:nvPicPr>
          <p:cNvPr descr="image.png" id="140" name="Google Shape;14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2837408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3850778"/>
            <a:ext cx="1905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71525" y="4864149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71525" y="5877520"/>
            <a:ext cx="21907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6"/>
          <p:cNvSpPr txBox="1"/>
          <p:nvPr/>
        </p:nvSpPr>
        <p:spPr>
          <a:xfrm>
            <a:off x="771525" y="581025"/>
            <a:ext cx="11181397" cy="485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Problem Statement</a:t>
            </a:r>
            <a:endParaRPr/>
          </a:p>
        </p:txBody>
      </p:sp>
      <p:sp>
        <p:nvSpPr>
          <p:cNvPr id="145" name="Google Shape;145;p16"/>
          <p:cNvSpPr/>
          <p:nvPr/>
        </p:nvSpPr>
        <p:spPr>
          <a:xfrm>
            <a:off x="631275" y="633413"/>
            <a:ext cx="76200" cy="38100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6" name="Google Shape;146;p16" title="fasterrcnn-detections.jp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972163" y="1476963"/>
            <a:ext cx="5857875" cy="458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1" name="Google Shape;15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85775" y="-369575"/>
            <a:ext cx="13564224" cy="7629874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7"/>
          <p:cNvSpPr txBox="1"/>
          <p:nvPr/>
        </p:nvSpPr>
        <p:spPr>
          <a:xfrm>
            <a:off x="771525" y="1589930"/>
            <a:ext cx="10649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7"/>
          <p:cNvSpPr/>
          <p:nvPr/>
        </p:nvSpPr>
        <p:spPr>
          <a:xfrm>
            <a:off x="771525" y="2630983"/>
            <a:ext cx="26622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3433762" y="2630983"/>
            <a:ext cx="37272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7160865" y="2630983"/>
            <a:ext cx="42597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7"/>
          <p:cNvSpPr/>
          <p:nvPr/>
        </p:nvSpPr>
        <p:spPr>
          <a:xfrm>
            <a:off x="771525" y="3676650"/>
            <a:ext cx="26622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7"/>
          <p:cNvSpPr/>
          <p:nvPr/>
        </p:nvSpPr>
        <p:spPr>
          <a:xfrm>
            <a:off x="3433762" y="3676650"/>
            <a:ext cx="37272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7"/>
          <p:cNvSpPr/>
          <p:nvPr/>
        </p:nvSpPr>
        <p:spPr>
          <a:xfrm>
            <a:off x="7160865" y="3676650"/>
            <a:ext cx="42597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/>
          <p:nvPr/>
        </p:nvSpPr>
        <p:spPr>
          <a:xfrm>
            <a:off x="771525" y="4478535"/>
            <a:ext cx="26622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7"/>
          <p:cNvSpPr/>
          <p:nvPr/>
        </p:nvSpPr>
        <p:spPr>
          <a:xfrm>
            <a:off x="3433762" y="4478535"/>
            <a:ext cx="37272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7"/>
          <p:cNvSpPr/>
          <p:nvPr/>
        </p:nvSpPr>
        <p:spPr>
          <a:xfrm>
            <a:off x="7160865" y="4478535"/>
            <a:ext cx="42597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7"/>
          <p:cNvSpPr/>
          <p:nvPr/>
        </p:nvSpPr>
        <p:spPr>
          <a:xfrm>
            <a:off x="771525" y="5280421"/>
            <a:ext cx="26622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7"/>
          <p:cNvSpPr/>
          <p:nvPr/>
        </p:nvSpPr>
        <p:spPr>
          <a:xfrm>
            <a:off x="3433762" y="5280421"/>
            <a:ext cx="37272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7"/>
          <p:cNvSpPr/>
          <p:nvPr/>
        </p:nvSpPr>
        <p:spPr>
          <a:xfrm>
            <a:off x="7160865" y="5280421"/>
            <a:ext cx="42597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5" name="Google Shape;165;p17"/>
          <p:cNvGraphicFramePr/>
          <p:nvPr/>
        </p:nvGraphicFramePr>
        <p:xfrm>
          <a:off x="156488" y="9231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{6B70CFA0-F266-41A3-BB7F-203E21D7C8B1}</a:tableStyleId>
              </a:tblPr>
              <a:tblGrid>
                <a:gridCol w="3396500"/>
                <a:gridCol w="3393000"/>
                <a:gridCol w="2262000"/>
                <a:gridCol w="2827500"/>
              </a:tblGrid>
              <a:tr h="975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Research Paper / Author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Core Methodology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Key Findings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Primary Limitations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1139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50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Retinexformer: One-Stage Retinex-Based Transformer for Low-Light Image Enhancement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Uses Retinex theory with a transformer to separate illumination and reflectance for low-light enhancement.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Improves visibility and feature quality in low-light images, helping downstream vision tasks.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Designed for image enhancement, not object detection; adds preprocessing overhead.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39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50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U-Net: Convolutional Networks for Biomedical Image Segmentation</a:t>
                      </a:r>
                      <a:endParaRPr b="1" i="0" sz="1350" u="none" cap="none" strike="noStrike">
                        <a:solidFill>
                          <a:srgbClr val="33415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Encoder–decoder CNN with skip connections for precise image segmentation.</a:t>
                      </a:r>
                      <a:endParaRPr b="0" i="0" sz="1350" u="none" cap="none" strike="noStrike">
                        <a:solidFill>
                          <a:srgbClr val="33415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Performs well even with limited training data and became a foundational segmentation architecture.</a:t>
                      </a:r>
                      <a:endParaRPr b="0" i="0" sz="1350" u="none" cap="none" strike="noStrike">
                        <a:solidFill>
                          <a:srgbClr val="33415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Designed for segmentation rather than detection; does not model prediction uncertainty</a:t>
                      </a:r>
                      <a:endParaRPr b="0" i="0" sz="1350" u="none" cap="none" strike="noStrike">
                        <a:solidFill>
                          <a:srgbClr val="33415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39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50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GenConViT: Generative Convolutional Vision Transformer for Deepfake Detection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Hybrid model combining CNN and Vision Transformer to detect deepfake artifacts in images and videos.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Achieves strong accuracy in detecting manipulated media using spatial and generative features.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Focused on classification tasks; computationally heavy and not designed for object detection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39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50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End-to-End Object Detection with Transformers (DETR)</a:t>
                      </a:r>
                      <a:endParaRPr b="1" i="0" sz="1350" u="none" cap="none" strike="noStrike">
                        <a:solidFill>
                          <a:srgbClr val="33415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Transformer encoder-decoder architecture for object detection using object queries and bipartite matching loss</a:t>
                      </a:r>
                      <a:endParaRPr b="0" i="0" sz="1350" u="none" cap="none" strike="noStrike">
                        <a:solidFill>
                          <a:srgbClr val="33415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Removes anchors and NMS, enabling simple end-to-end detection framework.</a:t>
                      </a:r>
                      <a:endParaRPr b="0" i="0" sz="1350" u="none" cap="none" strike="noStrike">
                        <a:solidFill>
                          <a:srgbClr val="33415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Very slow training (~500 epochs) and weak performance on small objects.</a:t>
                      </a:r>
                      <a:endParaRPr b="0" i="0" sz="1350" u="none" cap="none" strike="noStrike">
                        <a:solidFill>
                          <a:srgbClr val="33415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39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5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Deformable DETR: Deformable Transformers for End-to-End Object Detection</a:t>
                      </a:r>
                      <a:endParaRPr b="1" i="0" sz="1350" u="none" cap="none" strike="noStrike">
                        <a:solidFill>
                          <a:srgbClr val="33415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Introduces deformable attention where each query attends to a small set of reference points instead of full attention.</a:t>
                      </a:r>
                      <a:endParaRPr b="0" i="0" sz="1350" u="none" cap="none" strike="noStrike">
                        <a:solidFill>
                          <a:srgbClr val="33415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Faster convergence (~50 epochs) and improved small-object detection compared to DETR.</a:t>
                      </a:r>
                      <a:endParaRPr b="0" i="0" sz="1350" u="none" cap="none" strike="noStrike">
                        <a:solidFill>
                          <a:srgbClr val="33415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Still computationally expensive and does not estimate prediction uncertainty.</a:t>
                      </a:r>
                      <a:endParaRPr b="0" i="0" sz="1350" u="none" cap="none" strike="noStrike">
                        <a:solidFill>
                          <a:srgbClr val="33415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6" name="Google Shape;166;p17"/>
          <p:cNvSpPr/>
          <p:nvPr/>
        </p:nvSpPr>
        <p:spPr>
          <a:xfrm>
            <a:off x="8763000" y="5208984"/>
            <a:ext cx="26670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1" name="Google Shape;17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133900" y="-628629"/>
            <a:ext cx="14331974" cy="806172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8"/>
          <p:cNvSpPr txBox="1"/>
          <p:nvPr/>
        </p:nvSpPr>
        <p:spPr>
          <a:xfrm>
            <a:off x="771525" y="1589930"/>
            <a:ext cx="10649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8"/>
          <p:cNvSpPr/>
          <p:nvPr/>
        </p:nvSpPr>
        <p:spPr>
          <a:xfrm>
            <a:off x="771525" y="2630983"/>
            <a:ext cx="26622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8"/>
          <p:cNvSpPr/>
          <p:nvPr/>
        </p:nvSpPr>
        <p:spPr>
          <a:xfrm>
            <a:off x="3433762" y="2630983"/>
            <a:ext cx="372710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8"/>
          <p:cNvSpPr/>
          <p:nvPr/>
        </p:nvSpPr>
        <p:spPr>
          <a:xfrm>
            <a:off x="7160865" y="2630983"/>
            <a:ext cx="425960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8"/>
          <p:cNvSpPr/>
          <p:nvPr/>
        </p:nvSpPr>
        <p:spPr>
          <a:xfrm>
            <a:off x="771525" y="3676650"/>
            <a:ext cx="26622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8"/>
          <p:cNvSpPr/>
          <p:nvPr/>
        </p:nvSpPr>
        <p:spPr>
          <a:xfrm>
            <a:off x="3433762" y="3676650"/>
            <a:ext cx="372710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8"/>
          <p:cNvSpPr/>
          <p:nvPr/>
        </p:nvSpPr>
        <p:spPr>
          <a:xfrm>
            <a:off x="7160865" y="3676650"/>
            <a:ext cx="425960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8"/>
          <p:cNvSpPr/>
          <p:nvPr/>
        </p:nvSpPr>
        <p:spPr>
          <a:xfrm>
            <a:off x="771525" y="4478535"/>
            <a:ext cx="26622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8"/>
          <p:cNvSpPr/>
          <p:nvPr/>
        </p:nvSpPr>
        <p:spPr>
          <a:xfrm>
            <a:off x="3433762" y="4478535"/>
            <a:ext cx="372710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8"/>
          <p:cNvSpPr/>
          <p:nvPr/>
        </p:nvSpPr>
        <p:spPr>
          <a:xfrm>
            <a:off x="7160865" y="4478535"/>
            <a:ext cx="425960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8"/>
          <p:cNvSpPr/>
          <p:nvPr/>
        </p:nvSpPr>
        <p:spPr>
          <a:xfrm>
            <a:off x="771525" y="5280421"/>
            <a:ext cx="266223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8"/>
          <p:cNvSpPr/>
          <p:nvPr/>
        </p:nvSpPr>
        <p:spPr>
          <a:xfrm>
            <a:off x="3433762" y="5280421"/>
            <a:ext cx="372710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8"/>
          <p:cNvSpPr/>
          <p:nvPr/>
        </p:nvSpPr>
        <p:spPr>
          <a:xfrm>
            <a:off x="7160865" y="5280421"/>
            <a:ext cx="425960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5" name="Google Shape;185;p18"/>
          <p:cNvGraphicFramePr/>
          <p:nvPr/>
        </p:nvGraphicFramePr>
        <p:xfrm>
          <a:off x="92588" y="-727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{6B70CFA0-F266-41A3-BB7F-203E21D7C8B1}</a:tableStyleId>
              </a:tblPr>
              <a:tblGrid>
                <a:gridCol w="3396500"/>
                <a:gridCol w="3393000"/>
                <a:gridCol w="2262000"/>
                <a:gridCol w="2827500"/>
              </a:tblGrid>
              <a:tr h="975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Research Paper / Author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Core Methodology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Key Findings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Primary Limitations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1139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50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What Uncertainties Do We Need in Bayesian Deep Learning for Computer Vision?</a:t>
                      </a:r>
                      <a:endParaRPr b="1" sz="1350">
                        <a:solidFill>
                          <a:srgbClr val="33415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Bayesian framework modeling aleatoric uncertainty via variance prediction and epistemic uncertainty using Monte Carlo dropoout</a:t>
                      </a:r>
                      <a:endParaRPr sz="1350">
                        <a:solidFill>
                          <a:srgbClr val="33415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Demonstrates improved robustness and uncertainty estimation in vision tasks like segmentation and depth estimation.</a:t>
                      </a:r>
                      <a:endParaRPr sz="1350">
                        <a:solidFill>
                          <a:srgbClr val="33415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Not designed for object detection models; Monte Carlo sampling increases inference cost.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39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50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Bayes R-CNN: Uncertainty-Aware Bayesian Object Detection for Remote Sensing</a:t>
                      </a:r>
                      <a:endParaRPr b="1" i="0" sz="1350" u="none" cap="none" strike="noStrike">
                        <a:solidFill>
                          <a:srgbClr val="33415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Extends Faster R-CNN with Bayesian layers and multi-resolution feature extraction for uncertainty estimation.</a:t>
                      </a:r>
                      <a:endParaRPr b="0" i="0" sz="1350" u="none" cap="none" strike="noStrike">
                        <a:solidFill>
                          <a:srgbClr val="33415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Improved detection accuracy and interpretability in remote sensing datasets.</a:t>
                      </a:r>
                      <a:endParaRPr b="0" i="0" sz="1350" u="none" cap="none" strike="noStrike">
                        <a:solidFill>
                          <a:srgbClr val="33415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Very complex architecture; computationally heavy and tested only on specialized remote-sensing datasets.</a:t>
                      </a:r>
                      <a:endParaRPr b="0" i="0" sz="1350" u="none" cap="none" strike="noStrike">
                        <a:solidFill>
                          <a:srgbClr val="33415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1139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50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Gaussian YOLOv3: Localization Uncertainty for Object Detection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Models bounding box prediction as a Gaussian distribution and predicts variance along with bounding box coordinates.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Improved mAP by ~3–3.5 points on KITTI and BDD datasets while running in real time (~42 FPS).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Only models localization (aleatoric) uncertainty; does not capture epistemic uncertainty; assumes Gaussian noise for all objects.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39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50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An Uncertainty-Weighted Decision Transformer for Navigation in Dense, Complex Driving Scenarios</a:t>
                      </a:r>
                      <a:endParaRPr b="1" i="0" sz="1350" u="none" cap="none" strike="noStrike">
                        <a:solidFill>
                          <a:srgbClr val="33415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Decision Transformer using entropy-based uncertainty weighting during training.</a:t>
                      </a:r>
                      <a:endParaRPr b="0" i="0" sz="1350" u="none" cap="none" strike="noStrike">
                        <a:solidFill>
                          <a:srgbClr val="33415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Improves reward, stability, and reduces collision rate in dense traffic navigation tasks.</a:t>
                      </a:r>
                      <a:endParaRPr b="0" i="0" sz="1350" u="none" cap="none" strike="noStrike">
                        <a:solidFill>
                          <a:srgbClr val="33415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Tested mainly in simulation; requires large datasets and high computation.</a:t>
                      </a:r>
                      <a:endParaRPr b="0" i="0" sz="1350" u="none" cap="none" strike="noStrike">
                        <a:solidFill>
                          <a:srgbClr val="33415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39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50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Capturing Object Detection Uncertainty in Multi-Layer Grid Maps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Uses CNNs to estimate classification, pose, and shape uncertainty in grid-map representations used in autonomous driving.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Shows that uncertainty helps improve robustness and trajectory planning safety.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Designed specifically for grid-map sensor fusion data; not applicable directly to image-based object detectors.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0" name="Google Shape;19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76300" y="-367156"/>
            <a:ext cx="13303350" cy="7483126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9"/>
          <p:cNvSpPr txBox="1"/>
          <p:nvPr/>
        </p:nvSpPr>
        <p:spPr>
          <a:xfrm>
            <a:off x="771525" y="1589930"/>
            <a:ext cx="10649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9"/>
          <p:cNvSpPr/>
          <p:nvPr/>
        </p:nvSpPr>
        <p:spPr>
          <a:xfrm>
            <a:off x="771525" y="2630983"/>
            <a:ext cx="26622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9"/>
          <p:cNvSpPr/>
          <p:nvPr/>
        </p:nvSpPr>
        <p:spPr>
          <a:xfrm>
            <a:off x="3433762" y="2630983"/>
            <a:ext cx="37272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9"/>
          <p:cNvSpPr/>
          <p:nvPr/>
        </p:nvSpPr>
        <p:spPr>
          <a:xfrm>
            <a:off x="7160865" y="2630983"/>
            <a:ext cx="42597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9"/>
          <p:cNvSpPr/>
          <p:nvPr/>
        </p:nvSpPr>
        <p:spPr>
          <a:xfrm>
            <a:off x="771525" y="3676650"/>
            <a:ext cx="26622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9"/>
          <p:cNvSpPr/>
          <p:nvPr/>
        </p:nvSpPr>
        <p:spPr>
          <a:xfrm>
            <a:off x="3433762" y="3676650"/>
            <a:ext cx="37272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9"/>
          <p:cNvSpPr/>
          <p:nvPr/>
        </p:nvSpPr>
        <p:spPr>
          <a:xfrm>
            <a:off x="7160865" y="3676650"/>
            <a:ext cx="42597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9"/>
          <p:cNvSpPr/>
          <p:nvPr/>
        </p:nvSpPr>
        <p:spPr>
          <a:xfrm>
            <a:off x="771525" y="4478535"/>
            <a:ext cx="26622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9"/>
          <p:cNvSpPr/>
          <p:nvPr/>
        </p:nvSpPr>
        <p:spPr>
          <a:xfrm>
            <a:off x="3433762" y="4478535"/>
            <a:ext cx="37272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9"/>
          <p:cNvSpPr/>
          <p:nvPr/>
        </p:nvSpPr>
        <p:spPr>
          <a:xfrm>
            <a:off x="7160865" y="4478535"/>
            <a:ext cx="42597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9"/>
          <p:cNvSpPr/>
          <p:nvPr/>
        </p:nvSpPr>
        <p:spPr>
          <a:xfrm>
            <a:off x="771525" y="5280421"/>
            <a:ext cx="26622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9"/>
          <p:cNvSpPr/>
          <p:nvPr/>
        </p:nvSpPr>
        <p:spPr>
          <a:xfrm>
            <a:off x="3433762" y="5280421"/>
            <a:ext cx="37272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9"/>
          <p:cNvSpPr/>
          <p:nvPr/>
        </p:nvSpPr>
        <p:spPr>
          <a:xfrm>
            <a:off x="7160865" y="5280421"/>
            <a:ext cx="42597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4" name="Google Shape;204;p19"/>
          <p:cNvGraphicFramePr/>
          <p:nvPr/>
        </p:nvGraphicFramePr>
        <p:xfrm>
          <a:off x="156500" y="8450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{6B70CFA0-F266-41A3-BB7F-203E21D7C8B1}</a:tableStyleId>
              </a:tblPr>
              <a:tblGrid>
                <a:gridCol w="3396500"/>
                <a:gridCol w="3076400"/>
                <a:gridCol w="2578600"/>
                <a:gridCol w="2827500"/>
              </a:tblGrid>
              <a:tr h="975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Research Paper / Author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Core Methodology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Key Findings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Primary Limitations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1155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50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Towards Safe Autonomous Driving: Capture Uncertainty in Deep Neural Networks for LiDAR 3D Vehicle Detection</a:t>
                      </a:r>
                      <a:endParaRPr b="1" i="0" sz="1350" u="none" cap="none" strike="noStrike">
                        <a:solidFill>
                          <a:srgbClr val="33415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Bayesian neural network applied to LiDAR 3D object detection with aleatoric and epistemic uncertainty modeling.</a:t>
                      </a:r>
                      <a:endParaRPr b="0" i="0" sz="1350" u="none" cap="none" strike="noStrike">
                        <a:solidFill>
                          <a:srgbClr val="33415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Modeling aleatoric uncertainty improved detection accuracy by ~1–5%.</a:t>
                      </a:r>
                      <a:endParaRPr b="0" i="0" sz="1350" u="none" cap="none" strike="noStrike">
                        <a:solidFill>
                          <a:srgbClr val="33415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Focused on LiDAR data and 3D detection; not directly applicable to 2D image detectors.</a:t>
                      </a:r>
                      <a:endParaRPr b="0" i="0" sz="1350" u="none" cap="none" strike="noStrike">
                        <a:solidFill>
                          <a:srgbClr val="33415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39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50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Uncertainty-Aware Gradient Stabilization — Huixin Sun et al., ICCV 2025</a:t>
                      </a:r>
                      <a:endParaRPr b="1" i="0" sz="1350" u="none" cap="none" strike="noStrike">
                        <a:solidFill>
                          <a:srgbClr val="33415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Reformulates localization as discrete intervals; Uncertainty-Minimization loss and uncertainty-guided refinement stabilize gradients for tiny boxes</a:t>
                      </a:r>
                      <a:endParaRPr b="0" i="0" sz="1350" u="none" cap="none" strike="noStrike">
                        <a:solidFill>
                          <a:srgbClr val="33415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Reduces gradient variance ≈2.9×; improves small-object AP (≈+2.6 on VisDrone); generalizes across detectors. </a:t>
                      </a:r>
                      <a:endParaRPr b="0" i="0" sz="1350" u="none" cap="none" strike="noStrike">
                        <a:solidFill>
                          <a:srgbClr val="33415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Adds UM &amp; UR modules (more complexity); discretization may slightly reduce fine localization precision; small-object focus.</a:t>
                      </a:r>
                      <a:endParaRPr b="0" i="0" sz="1350" u="none" cap="none" strike="noStrike">
                        <a:solidFill>
                          <a:srgbClr val="33415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39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50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Calibrated Detection Transformer (Cal-DETR) — Munir et al., NeurIPS 2023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en-US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Train-time calibration: uncertainty quantification, uncertainty-guided logit modulation, plus logit-mixing regularizer for DETR variants.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Significantly lowers calibration error (ECE); </a:t>
                      </a:r>
                      <a:r>
                        <a:rPr lang="en-US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</a:t>
                      </a:r>
                      <a:r>
                        <a:rPr lang="en-US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aintains AP; improves in- and out-of-domain confidence reliability.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Adds training overhead and extra losses; needs tuning of modulation/mixing hyperparameters for best results.</a:t>
                      </a:r>
                      <a:endParaRPr sz="13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39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50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GroupEnsemble:  — Yang et al., arXiv 2026.</a:t>
                      </a:r>
                      <a:endParaRPr b="1" i="0" sz="1350" u="none" cap="none" strike="noStrike">
                        <a:solidFill>
                          <a:srgbClr val="33415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Run multiple object-query groups in parallel through shared decoder; attention masks keep groups independent producing ensemble outputs.</a:t>
                      </a:r>
                      <a:endParaRPr b="0" i="0" sz="1350" u="none" cap="none" strike="noStrike">
                        <a:solidFill>
                          <a:srgbClr val="33415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Produces ensemble - quality uncertainty in one forward pass; better-cost-accuracy tradeoff than naive ensembles or MC-dropout.</a:t>
                      </a:r>
                      <a:endParaRPr b="0" i="0" sz="1350" u="none" cap="none" strike="noStrike">
                        <a:solidFill>
                          <a:srgbClr val="33415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Increases memory and inference overhead; assumes transformer parallelism; slightly more complex integration than single models.</a:t>
                      </a:r>
                      <a:endParaRPr b="0" i="0" sz="1350" u="none" cap="none" strike="noStrike">
                        <a:solidFill>
                          <a:srgbClr val="33415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39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50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Out-of-Distribution Object Detection through Bayesian Uncertainty Estimation — Tianhao Zhang et al.,</a:t>
                      </a:r>
                      <a:endParaRPr b="1" i="0" sz="1350" u="none" cap="none" strike="noStrike">
                        <a:solidFill>
                          <a:srgbClr val="33415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Samples detector weights from Gaussian distributions to estimate Bayesian uncertainty and detect out-of-distribution objects.</a:t>
                      </a:r>
                      <a:endParaRPr b="0" i="0" sz="1350" u="none" cap="none" strike="noStrike">
                        <a:solidFill>
                          <a:srgbClr val="33415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Improves OOD detection performance; reduces FPR95 and increases AUROC when testing detectors on unseen datasets.</a:t>
                      </a:r>
                      <a:endParaRPr b="0" i="0" sz="1350" u="none" cap="none" strike="noStrike">
                        <a:solidFill>
                          <a:srgbClr val="33415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Requires weight sampling during inference; additional computation compared to standard deterministic detectors.</a:t>
                      </a:r>
                      <a:endParaRPr b="0" i="0" sz="1350" u="none" cap="none" strike="noStrike">
                        <a:solidFill>
                          <a:srgbClr val="33415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9" name="Google Shape;20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09425" y="-312562"/>
            <a:ext cx="13303350" cy="7483126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0"/>
          <p:cNvSpPr txBox="1"/>
          <p:nvPr/>
        </p:nvSpPr>
        <p:spPr>
          <a:xfrm>
            <a:off x="771525" y="1589930"/>
            <a:ext cx="10649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0"/>
          <p:cNvSpPr/>
          <p:nvPr/>
        </p:nvSpPr>
        <p:spPr>
          <a:xfrm>
            <a:off x="771525" y="2630983"/>
            <a:ext cx="26622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0"/>
          <p:cNvSpPr/>
          <p:nvPr/>
        </p:nvSpPr>
        <p:spPr>
          <a:xfrm>
            <a:off x="3433762" y="2630983"/>
            <a:ext cx="37272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0"/>
          <p:cNvSpPr/>
          <p:nvPr/>
        </p:nvSpPr>
        <p:spPr>
          <a:xfrm>
            <a:off x="7160865" y="2630983"/>
            <a:ext cx="42597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0"/>
          <p:cNvSpPr/>
          <p:nvPr/>
        </p:nvSpPr>
        <p:spPr>
          <a:xfrm>
            <a:off x="771525" y="3676650"/>
            <a:ext cx="26622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0"/>
          <p:cNvSpPr/>
          <p:nvPr/>
        </p:nvSpPr>
        <p:spPr>
          <a:xfrm>
            <a:off x="3433762" y="3676650"/>
            <a:ext cx="37272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0"/>
          <p:cNvSpPr/>
          <p:nvPr/>
        </p:nvSpPr>
        <p:spPr>
          <a:xfrm>
            <a:off x="7160865" y="3676650"/>
            <a:ext cx="42597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0"/>
          <p:cNvSpPr/>
          <p:nvPr/>
        </p:nvSpPr>
        <p:spPr>
          <a:xfrm>
            <a:off x="771525" y="4478535"/>
            <a:ext cx="26622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0"/>
          <p:cNvSpPr/>
          <p:nvPr/>
        </p:nvSpPr>
        <p:spPr>
          <a:xfrm>
            <a:off x="3433762" y="4478535"/>
            <a:ext cx="37272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0"/>
          <p:cNvSpPr/>
          <p:nvPr/>
        </p:nvSpPr>
        <p:spPr>
          <a:xfrm>
            <a:off x="7160865" y="4478535"/>
            <a:ext cx="42597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0"/>
          <p:cNvSpPr/>
          <p:nvPr/>
        </p:nvSpPr>
        <p:spPr>
          <a:xfrm>
            <a:off x="771525" y="5280421"/>
            <a:ext cx="26622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0"/>
          <p:cNvSpPr/>
          <p:nvPr/>
        </p:nvSpPr>
        <p:spPr>
          <a:xfrm>
            <a:off x="3433762" y="5280421"/>
            <a:ext cx="37272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0"/>
          <p:cNvSpPr/>
          <p:nvPr/>
        </p:nvSpPr>
        <p:spPr>
          <a:xfrm>
            <a:off x="7160865" y="5280421"/>
            <a:ext cx="42597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3" name="Google Shape;223;p20"/>
          <p:cNvGraphicFramePr/>
          <p:nvPr/>
        </p:nvGraphicFramePr>
        <p:xfrm>
          <a:off x="156569" y="23792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{6B70CFA0-F266-41A3-BB7F-203E21D7C8B1}</a:tableStyleId>
              </a:tblPr>
              <a:tblGrid>
                <a:gridCol w="3396500"/>
                <a:gridCol w="3393000"/>
                <a:gridCol w="2262000"/>
                <a:gridCol w="2827500"/>
              </a:tblGrid>
              <a:tr h="9921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Research Paper / Author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Core Methodology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Key Findings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Primary Limitations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solidFill>
                      <a:srgbClr val="0F172A"/>
                    </a:solidFill>
                  </a:tcPr>
                </a:tc>
              </a:tr>
              <a:tr h="1139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b="1" lang="en-US" sz="135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E-DETR: Evidential Deep Learning for End-to-End Uncertainty Estimation in Object Detection</a:t>
                      </a:r>
                      <a:endParaRPr b="1" sz="1350">
                        <a:solidFill>
                          <a:schemeClr val="dk1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350">
                        <a:solidFill>
                          <a:schemeClr val="dk1"/>
                        </a:solidFill>
                        <a:latin typeface="Open Sans Light"/>
                        <a:ea typeface="Open Sans Light"/>
                        <a:cs typeface="Open Sans Light"/>
                        <a:sym typeface="Open Sans Light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Extends DETR with evidential deep learning to estimate uncertainty distributions instead of point predictions. Uses Beta distribution for classification and NIG distribution for bounding box regression.</a:t>
                      </a:r>
                      <a:endParaRPr sz="135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Provides end-to-end uncertainty estimation in object detection. Improves calibration, robustness, and generalization, especially on imbalanced datasets.</a:t>
                      </a:r>
                      <a:endParaRPr sz="135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Sensitive to class imbalance and requires careful tuning of evidential regularization. Additional uncertainty modeling increases training complexity.</a:t>
                      </a:r>
                      <a:endParaRPr sz="135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</a:tr>
              <a:tr h="1139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50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Uncertainty Meets Diversity: A Comprehensive Active Learning Framework for Indoor 3D Object Detection</a:t>
                      </a:r>
                      <a:endParaRPr b="1" i="0" sz="1350" u="none" cap="none" strike="noStrike">
                        <a:solidFill>
                          <a:srgbClr val="33415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Active learning framework combining uncertainty-based sampling with diversity selection using a class-aware adaptive prototype bank. </a:t>
                      </a:r>
                      <a:endParaRPr i="0" sz="1350" u="none" cap="none" strike="noStrike">
                        <a:solidFill>
                          <a:srgbClr val="33415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Improves label efficiency and detection performance by selecting informative and diverse indoor 3D scenes.</a:t>
                      </a:r>
                      <a:endParaRPr i="0" sz="1350" u="none" cap="none" strike="noStrike">
                        <a:solidFill>
                          <a:srgbClr val="33415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Requires iterative retraining and annotation cycles; effectiveness depends on uncertainty estimation quality.</a:t>
                      </a:r>
                      <a:endParaRPr i="0" sz="1350" u="none" cap="none" strike="noStrike">
                        <a:solidFill>
                          <a:srgbClr val="33415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39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50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Monte Carlo DropBlock for Modelling Uncertainty in Object Detection – Deepshikha Kumari et al.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Introduces MC-DropBlock, applying DropBlock regularization during training and inference to perform multiple stochastic forward passes and estimate uncertainty in object detection models.</a:t>
                      </a:r>
                      <a:endParaRPr sz="135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Improves uncertainty estimation and calibration in CNN-based detectors. Enhances robustness and helps detect unreliable predictions and out-of-distribution inputs.</a:t>
                      </a:r>
                      <a:endParaRPr sz="135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Requires multiple inference passes which increases computational cost. Performance depends on correct tuning of DropBlock parameters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39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50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Exploring Aleatoric Uncertainty in Object Detection via Vision Foundation Models </a:t>
                      </a:r>
                      <a:endParaRPr b="1" i="0" sz="1350" u="none" cap="none" strike="noStrike">
                        <a:solidFill>
                          <a:srgbClr val="33415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Uses foundation-model features and Mahalanobis distance to estimate aleatoric data uncertainty for each object instance.</a:t>
                      </a:r>
                      <a:endParaRPr b="0" i="0" sz="1350" u="none" cap="none" strike="noStrike">
                        <a:solidFill>
                          <a:srgbClr val="33415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Enables uncertainty-aware sample filtering and adaptive training; improves robustness against noisy annotations and difficult objects.</a:t>
                      </a:r>
                      <a:endParaRPr b="0" i="0" sz="1350" u="none" cap="none" strike="noStrike">
                        <a:solidFill>
                          <a:srgbClr val="33415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Depends on quality of foundation-model features; additional feature extraction and clustering increase computation.</a:t>
                      </a:r>
                      <a:endParaRPr b="0" i="0" sz="1350" u="none" cap="none" strike="noStrike">
                        <a:solidFill>
                          <a:srgbClr val="33415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1"/>
          <p:cNvSpPr txBox="1"/>
          <p:nvPr/>
        </p:nvSpPr>
        <p:spPr>
          <a:xfrm>
            <a:off x="771525" y="1589930"/>
            <a:ext cx="10649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1"/>
          <p:cNvSpPr/>
          <p:nvPr/>
        </p:nvSpPr>
        <p:spPr>
          <a:xfrm>
            <a:off x="771525" y="2630983"/>
            <a:ext cx="26622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1"/>
          <p:cNvSpPr/>
          <p:nvPr/>
        </p:nvSpPr>
        <p:spPr>
          <a:xfrm>
            <a:off x="3433762" y="2630983"/>
            <a:ext cx="37272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1"/>
          <p:cNvSpPr/>
          <p:nvPr/>
        </p:nvSpPr>
        <p:spPr>
          <a:xfrm>
            <a:off x="7160865" y="2630983"/>
            <a:ext cx="42597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1"/>
          <p:cNvSpPr/>
          <p:nvPr/>
        </p:nvSpPr>
        <p:spPr>
          <a:xfrm>
            <a:off x="771525" y="3676650"/>
            <a:ext cx="26622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1"/>
          <p:cNvSpPr/>
          <p:nvPr/>
        </p:nvSpPr>
        <p:spPr>
          <a:xfrm>
            <a:off x="3433762" y="3676650"/>
            <a:ext cx="37272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1"/>
          <p:cNvSpPr/>
          <p:nvPr/>
        </p:nvSpPr>
        <p:spPr>
          <a:xfrm>
            <a:off x="7160865" y="3676650"/>
            <a:ext cx="42597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1"/>
          <p:cNvSpPr/>
          <p:nvPr/>
        </p:nvSpPr>
        <p:spPr>
          <a:xfrm>
            <a:off x="771525" y="4478535"/>
            <a:ext cx="26622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1"/>
          <p:cNvSpPr/>
          <p:nvPr/>
        </p:nvSpPr>
        <p:spPr>
          <a:xfrm>
            <a:off x="3433762" y="4478535"/>
            <a:ext cx="37272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1"/>
          <p:cNvSpPr/>
          <p:nvPr/>
        </p:nvSpPr>
        <p:spPr>
          <a:xfrm>
            <a:off x="7160865" y="4478535"/>
            <a:ext cx="42597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1"/>
          <p:cNvSpPr/>
          <p:nvPr/>
        </p:nvSpPr>
        <p:spPr>
          <a:xfrm>
            <a:off x="771525" y="5280421"/>
            <a:ext cx="26622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1"/>
          <p:cNvSpPr/>
          <p:nvPr/>
        </p:nvSpPr>
        <p:spPr>
          <a:xfrm>
            <a:off x="3433762" y="5280421"/>
            <a:ext cx="37272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1"/>
          <p:cNvSpPr/>
          <p:nvPr/>
        </p:nvSpPr>
        <p:spPr>
          <a:xfrm>
            <a:off x="7160865" y="5280421"/>
            <a:ext cx="42597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1" name="Google Shape;241;p21"/>
          <p:cNvGraphicFramePr/>
          <p:nvPr/>
        </p:nvGraphicFramePr>
        <p:xfrm>
          <a:off x="156500" y="4359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{6B70CFA0-F266-41A3-BB7F-203E21D7C8B1}</a:tableStyleId>
              </a:tblPr>
              <a:tblGrid>
                <a:gridCol w="3396500"/>
                <a:gridCol w="3393000"/>
                <a:gridCol w="2262000"/>
                <a:gridCol w="2827500"/>
              </a:tblGrid>
              <a:tr h="975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Research Paper / Author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Core Methodology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Key Findings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FFFFF"/>
                          </a:solidFill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Primary Limitations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1139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50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DETR with Improved DeNoising Anchor Boxes for End-to-End Object Detection — Hao Zhang et al., ICLR 2023</a:t>
                      </a:r>
                      <a:endParaRPr b="1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Improves DETR by introducing contrastive denoising</a:t>
                      </a:r>
                      <a:r>
                        <a:rPr b="1" lang="en-US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 </a:t>
                      </a:r>
                      <a:r>
                        <a:rPr lang="en-US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training</a:t>
                      </a:r>
                      <a:r>
                        <a:rPr b="1" lang="en-US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, </a:t>
                      </a:r>
                      <a:r>
                        <a:rPr lang="en-US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mixed query selection for anchor initialization, and improved bounding-box prediction, enabling faster convergence and stronger detection performance.</a:t>
                      </a:r>
                      <a:endParaRPr sz="17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Achieves state-of-the-art object detection accuracy (e.g., &gt;63 AP on COCO with large models) while training significantly faster than earlier DETR variants. </a:t>
                      </a:r>
                      <a:endParaRPr sz="1700"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350">
                          <a:solidFill>
                            <a:srgbClr val="334155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Still computationally heavy; requires large datasets and strong backbones (e.g., Swin Transformer) to reach top performance.</a:t>
                      </a:r>
                      <a:endParaRPr sz="1350">
                        <a:solidFill>
                          <a:srgbClr val="33415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indent="0" lvl="0" marL="0" marR="0" rtl="0" algn="l"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>
                        <a:solidFill>
                          <a:srgbClr val="33415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39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35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YOLO: You Only Look Once (Joseph Redmon et al.)</a:t>
                      </a:r>
                      <a:endParaRPr b="1" sz="1350">
                        <a:solidFill>
                          <a:srgbClr val="33415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350">
                        <a:solidFill>
                          <a:srgbClr val="33415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35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Single CNN predicts bounding boxes and classes from whole image using an S×S grid.</a:t>
                      </a:r>
                      <a:endParaRPr sz="1350">
                        <a:solidFill>
                          <a:srgbClr val="33415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>
                        <a:solidFill>
                          <a:srgbClr val="33415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35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Real-time detection, simple end-to-end pipeline, fewer background errors.</a:t>
                      </a:r>
                      <a:endParaRPr sz="1350">
                        <a:solidFill>
                          <a:srgbClr val="33415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>
                        <a:solidFill>
                          <a:srgbClr val="33415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350">
                          <a:solidFill>
                            <a:schemeClr val="dk1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Poor localization for small objects, grid limits multiple nearby detections.</a:t>
                      </a:r>
                      <a:endParaRPr sz="1350">
                        <a:solidFill>
                          <a:srgbClr val="33415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50">
                        <a:solidFill>
                          <a:srgbClr val="33415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39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39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i="0" sz="1350" u="none" cap="none" strike="noStrike">
                        <a:solidFill>
                          <a:srgbClr val="33415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350" u="none" cap="none" strike="noStrike">
                        <a:solidFill>
                          <a:srgbClr val="33415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350" u="none" cap="none" strike="noStrike">
                        <a:solidFill>
                          <a:srgbClr val="33415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0" i="0" sz="1350" u="none" cap="none" strike="noStrike">
                        <a:solidFill>
                          <a:srgbClr val="334155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42" name="Google Shape;242;p21"/>
          <p:cNvSpPr/>
          <p:nvPr/>
        </p:nvSpPr>
        <p:spPr>
          <a:xfrm>
            <a:off x="8763000" y="3995588"/>
            <a:ext cx="26670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7" name="Google Shape;24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8" name="Google Shape;24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257425"/>
            <a:ext cx="10648949" cy="31623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2"/>
          <p:cNvSpPr txBox="1"/>
          <p:nvPr/>
        </p:nvSpPr>
        <p:spPr>
          <a:xfrm>
            <a:off x="771525" y="2306984"/>
            <a:ext cx="53907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The Gap Our Project Fills</a:t>
            </a:r>
            <a:endParaRPr/>
          </a:p>
        </p:txBody>
      </p:sp>
      <p:sp>
        <p:nvSpPr>
          <p:cNvPr id="250" name="Google Shape;250;p22"/>
          <p:cNvSpPr txBox="1"/>
          <p:nvPr/>
        </p:nvSpPr>
        <p:spPr>
          <a:xfrm>
            <a:off x="771525" y="2735609"/>
            <a:ext cx="51339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No transformer detector has been extended with both aleatoric AND epistemic uncertainty estimation.</a:t>
            </a:r>
            <a:endParaRPr/>
          </a:p>
        </p:txBody>
      </p:sp>
      <p:sp>
        <p:nvSpPr>
          <p:cNvPr id="251" name="Google Shape;251;p22"/>
          <p:cNvSpPr txBox="1"/>
          <p:nvPr/>
        </p:nvSpPr>
        <p:spPr>
          <a:xfrm>
            <a:off x="1104900" y="3427065"/>
            <a:ext cx="4800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DETR and Deformable DETR lack calibration completely.</a:t>
            </a:r>
            <a:endParaRPr/>
          </a:p>
        </p:txBody>
      </p:sp>
      <p:sp>
        <p:nvSpPr>
          <p:cNvPr id="252" name="Google Shape;252;p22"/>
          <p:cNvSpPr txBox="1"/>
          <p:nvPr/>
        </p:nvSpPr>
        <p:spPr>
          <a:xfrm>
            <a:off x="1104900" y="3891855"/>
            <a:ext cx="4800600" cy="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Kendall &amp; Gal's foundational method was never applied to object detection.</a:t>
            </a:r>
            <a:endParaRPr/>
          </a:p>
        </p:txBody>
      </p:sp>
      <p:sp>
        <p:nvSpPr>
          <p:cNvPr id="253" name="Google Shape;253;p22"/>
          <p:cNvSpPr txBox="1"/>
          <p:nvPr/>
        </p:nvSpPr>
        <p:spPr>
          <a:xfrm>
            <a:off x="1104900" y="4630935"/>
            <a:ext cx="4800600" cy="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MC Dropout at T=50 is too slow. We show T=10 decoder-only dropout achieves comparable quality at 10x overhead.</a:t>
            </a:r>
            <a:endParaRPr/>
          </a:p>
        </p:txBody>
      </p:sp>
      <p:pic>
        <p:nvPicPr>
          <p:cNvPr descr="image.png" id="254" name="Google Shape;254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3469927"/>
            <a:ext cx="1238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5" name="Google Shape;255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1525" y="3934717"/>
            <a:ext cx="12382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6" name="Google Shape;256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4673798"/>
            <a:ext cx="1524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2"/>
          <p:cNvSpPr txBox="1"/>
          <p:nvPr/>
        </p:nvSpPr>
        <p:spPr>
          <a:xfrm>
            <a:off x="895350" y="876000"/>
            <a:ext cx="1118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Comparison of Existing Approaches</a:t>
            </a:r>
            <a:endParaRPr/>
          </a:p>
        </p:txBody>
      </p:sp>
      <p:sp>
        <p:nvSpPr>
          <p:cNvPr id="258" name="Google Shape;258;p22"/>
          <p:cNvSpPr/>
          <p:nvPr/>
        </p:nvSpPr>
        <p:spPr>
          <a:xfrm>
            <a:off x="795325" y="916350"/>
            <a:ext cx="76200" cy="38100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3" name="Google Shape;26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" y="-9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4" name="Google Shape;26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1543071"/>
            <a:ext cx="5229225" cy="4489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5" name="Google Shape;265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24925" y="1543075"/>
            <a:ext cx="5229225" cy="4489525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23"/>
          <p:cNvSpPr txBox="1"/>
          <p:nvPr/>
        </p:nvSpPr>
        <p:spPr>
          <a:xfrm>
            <a:off x="771525" y="1982092"/>
            <a:ext cx="10649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3"/>
          <p:cNvSpPr txBox="1"/>
          <p:nvPr/>
        </p:nvSpPr>
        <p:spPr>
          <a:xfrm>
            <a:off x="971563" y="1820358"/>
            <a:ext cx="4829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Aleatoric Uncertainty</a:t>
            </a:r>
            <a:endParaRPr sz="1900"/>
          </a:p>
        </p:txBody>
      </p:sp>
      <p:sp>
        <p:nvSpPr>
          <p:cNvPr id="268" name="Google Shape;268;p23"/>
          <p:cNvSpPr txBox="1"/>
          <p:nvPr/>
        </p:nvSpPr>
        <p:spPr>
          <a:xfrm>
            <a:off x="971563" y="2471608"/>
            <a:ext cx="48291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50" u="none" cap="none" strike="noStrike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Failure Mode 1: Data</a:t>
            </a:r>
            <a:endParaRPr sz="2100"/>
          </a:p>
        </p:txBody>
      </p:sp>
      <p:sp>
        <p:nvSpPr>
          <p:cNvPr id="269" name="Google Shape;269;p23"/>
          <p:cNvSpPr txBox="1"/>
          <p:nvPr/>
        </p:nvSpPr>
        <p:spPr>
          <a:xfrm>
            <a:off x="1048950" y="3182133"/>
            <a:ext cx="4829100" cy="20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Uncertainty in the </a:t>
            </a:r>
            <a:r>
              <a:rPr b="1" i="0" lang="en-US" sz="18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DATA</a:t>
            </a:r>
            <a:r>
              <a:rPr b="0" i="0" lang="en-US" sz="18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 The image is ambiguous (blurry, dark). It is </a:t>
            </a:r>
            <a:r>
              <a:rPr b="1" i="0" lang="en-US" sz="18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IRREDUCIBLE</a:t>
            </a:r>
            <a:r>
              <a:rPr b="0" i="0" lang="en-US" sz="18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br>
              <a:rPr b="0" i="0" lang="en-U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8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Modeled via:</a:t>
            </a:r>
            <a:r>
              <a:rPr b="0" i="0" lang="en-US" sz="18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Variance head predicting σ2.</a:t>
            </a:r>
            <a:br>
              <a:rPr b="0" i="0" lang="en-U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8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Response:</a:t>
            </a:r>
            <a:r>
              <a:rPr b="0" i="0" lang="en-US" sz="18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High σ2 means sensor fusion or re-capturing is needed.</a:t>
            </a:r>
            <a:endParaRPr sz="2100"/>
          </a:p>
        </p:txBody>
      </p:sp>
      <p:sp>
        <p:nvSpPr>
          <p:cNvPr id="270" name="Google Shape;270;p23"/>
          <p:cNvSpPr txBox="1"/>
          <p:nvPr/>
        </p:nvSpPr>
        <p:spPr>
          <a:xfrm>
            <a:off x="6391275" y="1820846"/>
            <a:ext cx="48291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Epistemic Uncertainty</a:t>
            </a:r>
            <a:endParaRPr sz="1900"/>
          </a:p>
        </p:txBody>
      </p:sp>
      <p:sp>
        <p:nvSpPr>
          <p:cNvPr id="271" name="Google Shape;271;p23"/>
          <p:cNvSpPr txBox="1"/>
          <p:nvPr/>
        </p:nvSpPr>
        <p:spPr>
          <a:xfrm>
            <a:off x="6324988" y="2471600"/>
            <a:ext cx="48291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50" u="none" cap="none" strike="noStrike">
                <a:solidFill>
                  <a:srgbClr val="0D9488"/>
                </a:solidFill>
                <a:latin typeface="Inter"/>
                <a:ea typeface="Inter"/>
                <a:cs typeface="Inter"/>
                <a:sym typeface="Inter"/>
              </a:rPr>
              <a:t>Failure Mode 2: Model</a:t>
            </a:r>
            <a:endParaRPr sz="2100"/>
          </a:p>
        </p:txBody>
      </p:sp>
      <p:sp>
        <p:nvSpPr>
          <p:cNvPr id="272" name="Google Shape;272;p23"/>
          <p:cNvSpPr txBox="1"/>
          <p:nvPr/>
        </p:nvSpPr>
        <p:spPr>
          <a:xfrm>
            <a:off x="6225475" y="3182133"/>
            <a:ext cx="4829100" cy="20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Uncertainty in the </a:t>
            </a:r>
            <a:r>
              <a:rPr b="1" i="0" lang="en-US" sz="18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MODEL</a:t>
            </a:r>
            <a:r>
              <a:rPr b="0" i="0" lang="en-US" sz="18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 It hasn't seen enough of this object class. It is </a:t>
            </a:r>
            <a:r>
              <a:rPr b="1" i="0" lang="en-US" sz="18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REDUCIBLE</a:t>
            </a:r>
            <a:r>
              <a:rPr b="0" i="0" lang="en-US" sz="18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br>
              <a:rPr b="0" i="0" lang="en-U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8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Modeled via:</a:t>
            </a:r>
            <a:r>
              <a:rPr b="0" i="0" lang="en-US" sz="18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Monte Carlo Dropout (T=10).</a:t>
            </a:r>
            <a:br>
              <a:rPr b="0" i="0" lang="en-U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8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Response:</a:t>
            </a:r>
            <a:r>
              <a:rPr b="0" i="0" lang="en-US" sz="1825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High variance means flag for human review or collect more training data.</a:t>
            </a:r>
            <a:endParaRPr sz="2100"/>
          </a:p>
        </p:txBody>
      </p:sp>
      <p:sp>
        <p:nvSpPr>
          <p:cNvPr id="273" name="Google Shape;273;p23"/>
          <p:cNvSpPr txBox="1"/>
          <p:nvPr/>
        </p:nvSpPr>
        <p:spPr>
          <a:xfrm>
            <a:off x="771525" y="581025"/>
            <a:ext cx="11181397" cy="485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Understanding The Two Failure Modes</a:t>
            </a:r>
            <a:endParaRPr/>
          </a:p>
        </p:txBody>
      </p:sp>
      <p:sp>
        <p:nvSpPr>
          <p:cNvPr id="274" name="Google Shape;274;p23"/>
          <p:cNvSpPr/>
          <p:nvPr/>
        </p:nvSpPr>
        <p:spPr>
          <a:xfrm>
            <a:off x="594650" y="633413"/>
            <a:ext cx="76200" cy="38100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9" name="Google Shape;27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1525" y="1722090"/>
            <a:ext cx="10648949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0" name="Google Shape;280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43312" y="2541240"/>
            <a:ext cx="490537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1" name="Google Shape;281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4625" y="3255625"/>
            <a:ext cx="3422600" cy="3351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2" name="Google Shape;282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94150" y="3265140"/>
            <a:ext cx="3403550" cy="561975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4"/>
          <p:cNvSpPr txBox="1"/>
          <p:nvPr/>
        </p:nvSpPr>
        <p:spPr>
          <a:xfrm>
            <a:off x="2075700" y="1360438"/>
            <a:ext cx="7620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24"/>
          <p:cNvSpPr txBox="1"/>
          <p:nvPr/>
        </p:nvSpPr>
        <p:spPr>
          <a:xfrm>
            <a:off x="1028700" y="1893540"/>
            <a:ext cx="14763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02124"/>
                </a:solidFill>
                <a:latin typeface="Inter"/>
                <a:ea typeface="Inter"/>
                <a:cs typeface="Inter"/>
                <a:sym typeface="Inter"/>
              </a:rPr>
              <a:t>Research Question:</a:t>
            </a:r>
            <a:endParaRPr/>
          </a:p>
        </p:txBody>
      </p:sp>
      <p:sp>
        <p:nvSpPr>
          <p:cNvPr id="285" name="Google Shape;285;p24"/>
          <p:cNvSpPr txBox="1"/>
          <p:nvPr/>
        </p:nvSpPr>
        <p:spPr>
          <a:xfrm>
            <a:off x="4584650" y="4065240"/>
            <a:ext cx="30225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9334E6"/>
                </a:solidFill>
                <a:latin typeface="Inter"/>
                <a:ea typeface="Inter"/>
                <a:cs typeface="Inter"/>
                <a:sym typeface="Inter"/>
              </a:rPr>
              <a:t>WHAT</a:t>
            </a:r>
            <a:endParaRPr/>
          </a:p>
        </p:txBody>
      </p:sp>
      <p:sp>
        <p:nvSpPr>
          <p:cNvPr id="286" name="Google Shape;286;p24"/>
          <p:cNvSpPr txBox="1"/>
          <p:nvPr/>
        </p:nvSpPr>
        <p:spPr>
          <a:xfrm>
            <a:off x="4584650" y="4293840"/>
            <a:ext cx="3022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5F6368"/>
                </a:solidFill>
                <a:latin typeface="Inter"/>
                <a:ea typeface="Inter"/>
                <a:cs typeface="Inter"/>
                <a:sym typeface="Inter"/>
              </a:rPr>
              <a:t>Keep dropout ON at test time in decoder FFN layers. Run T=10 stochastic forward passes. Variance across runs = epistemic uncertainty</a:t>
            </a:r>
            <a:r>
              <a:rPr b="0" i="0" lang="en-US" sz="1050" u="none" cap="none" strike="noStrike">
                <a:solidFill>
                  <a:srgbClr val="5F636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287" name="Google Shape;287;p24"/>
          <p:cNvSpPr/>
          <p:nvPr/>
        </p:nvSpPr>
        <p:spPr>
          <a:xfrm>
            <a:off x="4584650" y="5036790"/>
            <a:ext cx="3022500" cy="9600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4"/>
          <p:cNvSpPr txBox="1"/>
          <p:nvPr/>
        </p:nvSpPr>
        <p:spPr>
          <a:xfrm>
            <a:off x="4584650" y="5189190"/>
            <a:ext cx="30225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9334E6"/>
                </a:solidFill>
                <a:latin typeface="Inter"/>
                <a:ea typeface="Inter"/>
                <a:cs typeface="Inter"/>
                <a:sym typeface="Inter"/>
              </a:rPr>
              <a:t>WHY</a:t>
            </a:r>
            <a:endParaRPr/>
          </a:p>
        </p:txBody>
      </p:sp>
      <p:sp>
        <p:nvSpPr>
          <p:cNvPr id="289" name="Google Shape;289;p24"/>
          <p:cNvSpPr txBox="1"/>
          <p:nvPr/>
        </p:nvSpPr>
        <p:spPr>
          <a:xfrm>
            <a:off x="4584650" y="5417790"/>
            <a:ext cx="3022500" cy="4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F6368"/>
                </a:solidFill>
                <a:latin typeface="Inter"/>
                <a:ea typeface="Inter"/>
                <a:cs typeface="Inter"/>
                <a:sym typeface="Inter"/>
              </a:rPr>
              <a:t>Zero retraining. Deformable DETR already has dropout in decoder. Only ~10× overhead.</a:t>
            </a:r>
            <a:endParaRPr/>
          </a:p>
        </p:txBody>
      </p:sp>
      <p:sp>
        <p:nvSpPr>
          <p:cNvPr id="290" name="Google Shape;290;p24"/>
          <p:cNvSpPr txBox="1"/>
          <p:nvPr/>
        </p:nvSpPr>
        <p:spPr>
          <a:xfrm>
            <a:off x="8124175" y="3903315"/>
            <a:ext cx="30225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1E8E3E"/>
                </a:solidFill>
                <a:latin typeface="Inter"/>
                <a:ea typeface="Inter"/>
                <a:cs typeface="Inter"/>
                <a:sym typeface="Inter"/>
              </a:rPr>
              <a:t>WHAT</a:t>
            </a:r>
            <a:endParaRPr/>
          </a:p>
        </p:txBody>
      </p:sp>
      <p:sp>
        <p:nvSpPr>
          <p:cNvPr id="291" name="Google Shape;291;p24"/>
          <p:cNvSpPr/>
          <p:nvPr/>
        </p:nvSpPr>
        <p:spPr>
          <a:xfrm>
            <a:off x="8124175" y="5427315"/>
            <a:ext cx="3022500" cy="9600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4"/>
          <p:cNvSpPr txBox="1"/>
          <p:nvPr/>
        </p:nvSpPr>
        <p:spPr>
          <a:xfrm>
            <a:off x="8124175" y="5579715"/>
            <a:ext cx="30225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1E8E3E"/>
                </a:solidFill>
                <a:latin typeface="Inter"/>
                <a:ea typeface="Inter"/>
                <a:cs typeface="Inter"/>
                <a:sym typeface="Inter"/>
              </a:rPr>
              <a:t>WHY</a:t>
            </a:r>
            <a:endParaRPr/>
          </a:p>
        </p:txBody>
      </p:sp>
      <p:sp>
        <p:nvSpPr>
          <p:cNvPr id="293" name="Google Shape;293;p24"/>
          <p:cNvSpPr txBox="1"/>
          <p:nvPr/>
        </p:nvSpPr>
        <p:spPr>
          <a:xfrm>
            <a:off x="8124175" y="5808315"/>
            <a:ext cx="3022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F6368"/>
                </a:solidFill>
                <a:latin typeface="Inter"/>
                <a:ea typeface="Inter"/>
                <a:cs typeface="Inter"/>
                <a:sym typeface="Inter"/>
              </a:rPr>
              <a:t>Uses uncertainty to improve training on hard examples. May improve APs on small/occluded objects.</a:t>
            </a:r>
            <a:endParaRPr/>
          </a:p>
        </p:txBody>
      </p:sp>
      <p:pic>
        <p:nvPicPr>
          <p:cNvPr descr="image.png" id="294" name="Google Shape;294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374875" y="4384112"/>
            <a:ext cx="391417" cy="32430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4"/>
          <p:cNvSpPr txBox="1"/>
          <p:nvPr/>
        </p:nvSpPr>
        <p:spPr>
          <a:xfrm>
            <a:off x="771525" y="684025"/>
            <a:ext cx="1118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72B4D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Proposed Approach</a:t>
            </a:r>
            <a:endParaRPr/>
          </a:p>
        </p:txBody>
      </p:sp>
      <p:sp>
        <p:nvSpPr>
          <p:cNvPr id="296" name="Google Shape;296;p24"/>
          <p:cNvSpPr/>
          <p:nvPr/>
        </p:nvSpPr>
        <p:spPr>
          <a:xfrm>
            <a:off x="626300" y="714775"/>
            <a:ext cx="57300" cy="400200"/>
          </a:xfrm>
          <a:prstGeom prst="roundRect">
            <a:avLst>
              <a:gd fmla="val 0" name="adj"/>
            </a:avLst>
          </a:prstGeom>
          <a:solidFill>
            <a:srgbClr val="1A73E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4"/>
          <p:cNvSpPr txBox="1"/>
          <p:nvPr/>
        </p:nvSpPr>
        <p:spPr>
          <a:xfrm>
            <a:off x="8007250" y="4203463"/>
            <a:ext cx="3000000" cy="10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5F6368"/>
                </a:solidFill>
                <a:latin typeface="Inter"/>
                <a:ea typeface="Inter"/>
                <a:cs typeface="Inter"/>
                <a:sym typeface="Inter"/>
              </a:rPr>
              <a:t>Use   from Track A to compute per-image sample weights. Fine tune with weighted loss – hard images get more training attention</a:t>
            </a:r>
            <a:endParaRPr/>
          </a:p>
        </p:txBody>
      </p:sp>
      <p:pic>
        <p:nvPicPr>
          <p:cNvPr descr="image.png" id="298" name="Google Shape;298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76525" y="3255625"/>
            <a:ext cx="3422600" cy="3351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9" name="Google Shape;299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086075" y="3255615"/>
            <a:ext cx="3403550" cy="561975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4"/>
          <p:cNvSpPr txBox="1"/>
          <p:nvPr/>
        </p:nvSpPr>
        <p:spPr>
          <a:xfrm>
            <a:off x="8276575" y="4055715"/>
            <a:ext cx="30225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1E8E3E"/>
                </a:solidFill>
                <a:latin typeface="Inter"/>
                <a:ea typeface="Inter"/>
                <a:cs typeface="Inter"/>
                <a:sym typeface="Inter"/>
              </a:rPr>
              <a:t>WHAT</a:t>
            </a:r>
            <a:endParaRPr/>
          </a:p>
        </p:txBody>
      </p:sp>
      <p:sp>
        <p:nvSpPr>
          <p:cNvPr id="301" name="Google Shape;301;p24"/>
          <p:cNvSpPr/>
          <p:nvPr/>
        </p:nvSpPr>
        <p:spPr>
          <a:xfrm>
            <a:off x="8276575" y="5579715"/>
            <a:ext cx="3022500" cy="9600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4"/>
          <p:cNvSpPr txBox="1"/>
          <p:nvPr/>
        </p:nvSpPr>
        <p:spPr>
          <a:xfrm>
            <a:off x="8276575" y="5732115"/>
            <a:ext cx="30225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1E8E3E"/>
                </a:solidFill>
                <a:latin typeface="Inter"/>
                <a:ea typeface="Inter"/>
                <a:cs typeface="Inter"/>
                <a:sym typeface="Inter"/>
              </a:rPr>
              <a:t>WHY</a:t>
            </a:r>
            <a:endParaRPr/>
          </a:p>
        </p:txBody>
      </p:sp>
      <p:sp>
        <p:nvSpPr>
          <p:cNvPr id="303" name="Google Shape;303;p24"/>
          <p:cNvSpPr txBox="1"/>
          <p:nvPr/>
        </p:nvSpPr>
        <p:spPr>
          <a:xfrm>
            <a:off x="8276575" y="5960715"/>
            <a:ext cx="3022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F6368"/>
                </a:solidFill>
                <a:latin typeface="Inter"/>
                <a:ea typeface="Inter"/>
                <a:cs typeface="Inter"/>
                <a:sym typeface="Inter"/>
              </a:rPr>
              <a:t>Uses uncertainty to improve training on hard examples. May improve APs on small/occluded objects.</a:t>
            </a:r>
            <a:endParaRPr/>
          </a:p>
        </p:txBody>
      </p:sp>
      <p:sp>
        <p:nvSpPr>
          <p:cNvPr id="304" name="Google Shape;304;p24"/>
          <p:cNvSpPr txBox="1"/>
          <p:nvPr/>
        </p:nvSpPr>
        <p:spPr>
          <a:xfrm>
            <a:off x="8159650" y="4355863"/>
            <a:ext cx="3000000" cy="10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5F6368"/>
                </a:solidFill>
                <a:latin typeface="Inter"/>
                <a:ea typeface="Inter"/>
                <a:cs typeface="Inter"/>
                <a:sym typeface="Inter"/>
              </a:rPr>
              <a:t>Use        from Track A to compute per-image sample weights. Fine tune with weighted loss – hard images get more training attention</a:t>
            </a:r>
            <a:endParaRPr/>
          </a:p>
        </p:txBody>
      </p:sp>
      <p:pic>
        <p:nvPicPr>
          <p:cNvPr descr="image.png" id="305" name="Google Shape;305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01413" y="4441324"/>
            <a:ext cx="164900" cy="136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6" name="Google Shape;306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255625"/>
            <a:ext cx="3422600" cy="3351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7" name="Google Shape;307;p2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81050" y="3255615"/>
            <a:ext cx="3403550" cy="561975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24"/>
          <p:cNvSpPr txBox="1"/>
          <p:nvPr/>
        </p:nvSpPr>
        <p:spPr>
          <a:xfrm>
            <a:off x="971550" y="4055715"/>
            <a:ext cx="30225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1A73E8"/>
                </a:solidFill>
                <a:latin typeface="Inter"/>
                <a:ea typeface="Inter"/>
                <a:cs typeface="Inter"/>
                <a:sym typeface="Inter"/>
              </a:rPr>
              <a:t>WHAT</a:t>
            </a:r>
            <a:endParaRPr/>
          </a:p>
        </p:txBody>
      </p:sp>
      <p:sp>
        <p:nvSpPr>
          <p:cNvPr id="309" name="Google Shape;309;p24"/>
          <p:cNvSpPr txBox="1"/>
          <p:nvPr/>
        </p:nvSpPr>
        <p:spPr>
          <a:xfrm>
            <a:off x="1019250" y="4365878"/>
            <a:ext cx="3022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F6368"/>
                </a:solidFill>
                <a:latin typeface="Inter"/>
                <a:ea typeface="Inter"/>
                <a:cs typeface="Inter"/>
                <a:sym typeface="Inter"/>
              </a:rPr>
              <a:t>Add a parallel variance branch to the detection FFN head. Fine-tune only the new head (backbone frozen). Outputs          per detection</a:t>
            </a:r>
            <a:endParaRPr/>
          </a:p>
        </p:txBody>
      </p:sp>
      <p:sp>
        <p:nvSpPr>
          <p:cNvPr id="310" name="Google Shape;310;p24"/>
          <p:cNvSpPr/>
          <p:nvPr/>
        </p:nvSpPr>
        <p:spPr>
          <a:xfrm>
            <a:off x="1009700" y="5281728"/>
            <a:ext cx="3022500" cy="9600"/>
          </a:xfrm>
          <a:prstGeom prst="rect">
            <a:avLst/>
          </a:prstGeom>
          <a:solidFill>
            <a:srgbClr val="DADC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4"/>
          <p:cNvSpPr txBox="1"/>
          <p:nvPr/>
        </p:nvSpPr>
        <p:spPr>
          <a:xfrm>
            <a:off x="971550" y="5560665"/>
            <a:ext cx="30225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1A73E8"/>
                </a:solidFill>
                <a:latin typeface="Inter"/>
                <a:ea typeface="Inter"/>
                <a:cs typeface="Inter"/>
                <a:sym typeface="Inter"/>
              </a:rPr>
              <a:t>WHY</a:t>
            </a:r>
            <a:endParaRPr/>
          </a:p>
        </p:txBody>
      </p:sp>
      <p:sp>
        <p:nvSpPr>
          <p:cNvPr id="312" name="Google Shape;312;p24"/>
          <p:cNvSpPr txBox="1"/>
          <p:nvPr/>
        </p:nvSpPr>
        <p:spPr>
          <a:xfrm>
            <a:off x="971550" y="5789265"/>
            <a:ext cx="3022500" cy="7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7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5F6368"/>
                </a:solidFill>
                <a:latin typeface="Inter"/>
                <a:ea typeface="Inter"/>
                <a:cs typeface="Inter"/>
                <a:sym typeface="Inter"/>
              </a:rPr>
              <a:t>No existing transformer-based detector outputs uncertainty — we are the first to add it to Deformable DETR.</a:t>
            </a:r>
            <a:b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5F6368"/>
                </a:solidFill>
                <a:latin typeface="Inter"/>
                <a:ea typeface="Inter"/>
                <a:cs typeface="Inter"/>
                <a:sym typeface="Inter"/>
              </a:rPr>
              <a:t>Directly models data-level noise from Kendall &amp; Gal.</a:t>
            </a:r>
            <a:endParaRPr/>
          </a:p>
        </p:txBody>
      </p:sp>
      <p:pic>
        <p:nvPicPr>
          <p:cNvPr descr="image.png" id="313" name="Google Shape;313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895050" y="4814899"/>
            <a:ext cx="164900" cy="136625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24"/>
          <p:cNvSpPr txBox="1"/>
          <p:nvPr/>
        </p:nvSpPr>
        <p:spPr>
          <a:xfrm>
            <a:off x="982788" y="4968688"/>
            <a:ext cx="30000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>
                <a:solidFill>
                  <a:srgbClr val="5F6368"/>
                </a:solidFill>
                <a:latin typeface="Inter"/>
                <a:ea typeface="Inter"/>
                <a:cs typeface="Inter"/>
                <a:sym typeface="Inter"/>
              </a:rPr>
              <a:t>coordination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9" name="Google Shape;31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0" name="Google Shape;32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1667125"/>
            <a:ext cx="5181600" cy="4117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1" name="Google Shape;321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1667125"/>
            <a:ext cx="5181600" cy="411775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25"/>
          <p:cNvSpPr txBox="1"/>
          <p:nvPr/>
        </p:nvSpPr>
        <p:spPr>
          <a:xfrm>
            <a:off x="1114425" y="1992716"/>
            <a:ext cx="47205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143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Completed</a:t>
            </a:r>
            <a:endParaRPr sz="1600"/>
          </a:p>
        </p:txBody>
      </p:sp>
      <p:sp>
        <p:nvSpPr>
          <p:cNvPr id="323" name="Google Shape;323;p25"/>
          <p:cNvSpPr txBox="1"/>
          <p:nvPr/>
        </p:nvSpPr>
        <p:spPr>
          <a:xfrm>
            <a:off x="6469425" y="1992716"/>
            <a:ext cx="47205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429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 </a:t>
            </a:r>
            <a:r>
              <a:rPr b="1" i="0" lang="en-US" sz="21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Progress</a:t>
            </a:r>
            <a:r>
              <a:rPr b="1" i="0" lang="en-US" sz="195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/ Upcoming</a:t>
            </a:r>
            <a:endParaRPr/>
          </a:p>
        </p:txBody>
      </p:sp>
      <p:pic>
        <p:nvPicPr>
          <p:cNvPr descr="image.png" id="324" name="Google Shape;324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81088" y="2055766"/>
            <a:ext cx="2190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5" name="Google Shape;325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34150" y="2055766"/>
            <a:ext cx="2476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25"/>
          <p:cNvSpPr txBox="1"/>
          <p:nvPr/>
        </p:nvSpPr>
        <p:spPr>
          <a:xfrm>
            <a:off x="1447800" y="2477541"/>
            <a:ext cx="4162500" cy="6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Literature Review:</a:t>
            </a:r>
            <a:r>
              <a:rPr b="0" i="0" lang="en-US" sz="15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All core papers reviewed and connected to project limits.</a:t>
            </a:r>
            <a:endParaRPr sz="1600"/>
          </a:p>
        </p:txBody>
      </p:sp>
      <p:sp>
        <p:nvSpPr>
          <p:cNvPr id="327" name="Google Shape;327;p25"/>
          <p:cNvSpPr txBox="1"/>
          <p:nvPr/>
        </p:nvSpPr>
        <p:spPr>
          <a:xfrm>
            <a:off x="1447800" y="3353785"/>
            <a:ext cx="4162500" cy="10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Dataset Prep:</a:t>
            </a:r>
            <a:r>
              <a:rPr b="0" i="0" lang="en-US" sz="15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COCO val2017 (~1GB, 5k images) and 20k subset of train2017 identified.</a:t>
            </a:r>
            <a:endParaRPr sz="1600"/>
          </a:p>
        </p:txBody>
      </p:sp>
      <p:sp>
        <p:nvSpPr>
          <p:cNvPr id="328" name="Google Shape;328;p25"/>
          <p:cNvSpPr txBox="1"/>
          <p:nvPr/>
        </p:nvSpPr>
        <p:spPr>
          <a:xfrm>
            <a:off x="1447800" y="4460527"/>
            <a:ext cx="4162500" cy="10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Baseline Loading:</a:t>
            </a:r>
            <a:r>
              <a:rPr b="0" i="0" lang="en-US" sz="15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Loaded official Deformable DETR checkpoint. Verified baseline AP=43.8.</a:t>
            </a:r>
            <a:endParaRPr sz="1600"/>
          </a:p>
        </p:txBody>
      </p:sp>
      <p:sp>
        <p:nvSpPr>
          <p:cNvPr id="329" name="Google Shape;329;p25"/>
          <p:cNvSpPr txBox="1"/>
          <p:nvPr/>
        </p:nvSpPr>
        <p:spPr>
          <a:xfrm>
            <a:off x="6841875" y="2521528"/>
            <a:ext cx="4162500" cy="10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Track A:</a:t>
            </a:r>
            <a:r>
              <a:rPr b="0" i="0" lang="en-US" sz="15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Variance head architecture designed; heteroscedastic loss implementation started.</a:t>
            </a:r>
            <a:endParaRPr sz="1600"/>
          </a:p>
        </p:txBody>
      </p:sp>
      <p:sp>
        <p:nvSpPr>
          <p:cNvPr id="330" name="Google Shape;330;p25"/>
          <p:cNvSpPr txBox="1"/>
          <p:nvPr/>
        </p:nvSpPr>
        <p:spPr>
          <a:xfrm>
            <a:off x="6915150" y="3618872"/>
            <a:ext cx="4162500" cy="6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Track B (Upcoming):</a:t>
            </a:r>
            <a:r>
              <a:rPr b="0" i="0" lang="en-US" sz="15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MC Dropout inference loop planned for Week 2 (T=5, 10, 20).</a:t>
            </a:r>
            <a:endParaRPr sz="1600"/>
          </a:p>
        </p:txBody>
      </p:sp>
      <p:sp>
        <p:nvSpPr>
          <p:cNvPr id="331" name="Google Shape;331;p25"/>
          <p:cNvSpPr txBox="1"/>
          <p:nvPr/>
        </p:nvSpPr>
        <p:spPr>
          <a:xfrm>
            <a:off x="6915150" y="4460527"/>
            <a:ext cx="4162500" cy="6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Eval Pipeline:</a:t>
            </a:r>
            <a:r>
              <a:rPr b="0" i="0" lang="en-US" sz="15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ECE calculation, reliability diagrams code to be built alongside Track B.</a:t>
            </a:r>
            <a:endParaRPr sz="1600"/>
          </a:p>
        </p:txBody>
      </p:sp>
      <p:pic>
        <p:nvPicPr>
          <p:cNvPr descr="image.png" id="332" name="Google Shape;332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14425" y="2544229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3" name="Google Shape;333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14425" y="3338521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4" name="Google Shape;334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114425" y="4503390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5" name="Google Shape;335;p2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81775" y="2544229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6" name="Google Shape;336;p2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81775" y="3635521"/>
            <a:ext cx="15240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7" name="Google Shape;337;p2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81775" y="4503390"/>
            <a:ext cx="1524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25"/>
          <p:cNvSpPr txBox="1"/>
          <p:nvPr/>
        </p:nvSpPr>
        <p:spPr>
          <a:xfrm>
            <a:off x="847725" y="872275"/>
            <a:ext cx="1118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3000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Progress Till Now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39" name="Google Shape;339;p25"/>
          <p:cNvSpPr/>
          <p:nvPr/>
        </p:nvSpPr>
        <p:spPr>
          <a:xfrm>
            <a:off x="695325" y="912625"/>
            <a:ext cx="76200" cy="38100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4" name="Google Shape;34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5" name="Google Shape;345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342257"/>
            <a:ext cx="3359199" cy="29926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6" name="Google Shape;346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6474" y="2342257"/>
            <a:ext cx="3359199" cy="29926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7" name="Google Shape;347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1424" y="2342257"/>
            <a:ext cx="3359199" cy="29926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8" name="Google Shape;348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66800" y="2685157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26"/>
          <p:cNvSpPr txBox="1"/>
          <p:nvPr/>
        </p:nvSpPr>
        <p:spPr>
          <a:xfrm>
            <a:off x="1066800" y="3542407"/>
            <a:ext cx="200025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Trained Model &amp; Eval</a:t>
            </a:r>
            <a:endParaRPr/>
          </a:p>
        </p:txBody>
      </p:sp>
      <p:sp>
        <p:nvSpPr>
          <p:cNvPr id="350" name="Google Shape;350;p26"/>
          <p:cNvSpPr txBox="1"/>
          <p:nvPr/>
        </p:nvSpPr>
        <p:spPr>
          <a:xfrm>
            <a:off x="1066800" y="3894832"/>
            <a:ext cx="2768649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Deformable DETR + uncertainty heads (Tracks A/B/C) on COCO. Evaluation AP, ECE, reliability diagrams.</a:t>
            </a:r>
            <a:endParaRPr/>
          </a:p>
        </p:txBody>
      </p:sp>
      <p:pic>
        <p:nvPicPr>
          <p:cNvPr descr="image.png" id="351" name="Google Shape;351;p2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11749" y="2685157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26"/>
          <p:cNvSpPr txBox="1"/>
          <p:nvPr/>
        </p:nvSpPr>
        <p:spPr>
          <a:xfrm>
            <a:off x="4711749" y="3542407"/>
            <a:ext cx="144018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Ablation Study</a:t>
            </a:r>
            <a:endParaRPr/>
          </a:p>
        </p:txBody>
      </p:sp>
      <p:sp>
        <p:nvSpPr>
          <p:cNvPr id="353" name="Google Shape;353;p26"/>
          <p:cNvSpPr txBox="1"/>
          <p:nvPr/>
        </p:nvSpPr>
        <p:spPr>
          <a:xfrm>
            <a:off x="4711749" y="3894832"/>
            <a:ext cx="2768649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Systematic comparison of dropout rate, T passes (5/10/20), fine-tuning epochs. Compute vs Performance analysis.</a:t>
            </a:r>
            <a:endParaRPr/>
          </a:p>
        </p:txBody>
      </p:sp>
      <p:pic>
        <p:nvPicPr>
          <p:cNvPr descr="image.png" id="354" name="Google Shape;354;p2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356699" y="2685157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26"/>
          <p:cNvSpPr txBox="1"/>
          <p:nvPr/>
        </p:nvSpPr>
        <p:spPr>
          <a:xfrm>
            <a:off x="8356699" y="3542407"/>
            <a:ext cx="1420177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Code &amp; Report</a:t>
            </a:r>
            <a:endParaRPr/>
          </a:p>
        </p:txBody>
      </p:sp>
      <p:sp>
        <p:nvSpPr>
          <p:cNvPr id="356" name="Google Shape;356;p26"/>
          <p:cNvSpPr txBox="1"/>
          <p:nvPr/>
        </p:nvSpPr>
        <p:spPr>
          <a:xfrm>
            <a:off x="8356699" y="3894832"/>
            <a:ext cx="2768649" cy="1097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Full technical report, live demo with uncertainty visualization heat maps, and reproducible GitHub codebase.</a:t>
            </a:r>
            <a:endParaRPr/>
          </a:p>
        </p:txBody>
      </p:sp>
      <p:pic>
        <p:nvPicPr>
          <p:cNvPr descr="image.png" id="357" name="Google Shape;357;p2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228725" y="2847082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8" name="Google Shape;358;p2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873674" y="2847082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9" name="Google Shape;359;p2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561486" y="2847082"/>
            <a:ext cx="25717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26"/>
          <p:cNvSpPr txBox="1"/>
          <p:nvPr/>
        </p:nvSpPr>
        <p:spPr>
          <a:xfrm>
            <a:off x="1010700" y="872300"/>
            <a:ext cx="1118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Final Deliverables</a:t>
            </a:r>
            <a:endParaRPr/>
          </a:p>
        </p:txBody>
      </p:sp>
      <p:sp>
        <p:nvSpPr>
          <p:cNvPr id="361" name="Google Shape;361;p26"/>
          <p:cNvSpPr/>
          <p:nvPr/>
        </p:nvSpPr>
        <p:spPr>
          <a:xfrm>
            <a:off x="771525" y="912650"/>
            <a:ext cx="76200" cy="38100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66" name="Google Shape;36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7" name="Google Shape;367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4362450"/>
            <a:ext cx="2342703" cy="11218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8" name="Google Shape;368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40174" y="2669083"/>
            <a:ext cx="2342703" cy="11218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9" name="Google Shape;369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08824" y="4362450"/>
            <a:ext cx="2342703" cy="11218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0" name="Google Shape;370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77473" y="2669083"/>
            <a:ext cx="2342703" cy="1121866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27"/>
          <p:cNvSpPr/>
          <p:nvPr/>
        </p:nvSpPr>
        <p:spPr>
          <a:xfrm>
            <a:off x="771525" y="4057650"/>
            <a:ext cx="10648950" cy="381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7"/>
          <p:cNvSpPr txBox="1"/>
          <p:nvPr/>
        </p:nvSpPr>
        <p:spPr>
          <a:xfrm>
            <a:off x="922983" y="4562475"/>
            <a:ext cx="203978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Today</a:t>
            </a:r>
            <a:endParaRPr/>
          </a:p>
        </p:txBody>
      </p:sp>
      <p:sp>
        <p:nvSpPr>
          <p:cNvPr id="373" name="Google Shape;373;p27"/>
          <p:cNvSpPr txBox="1"/>
          <p:nvPr/>
        </p:nvSpPr>
        <p:spPr>
          <a:xfrm>
            <a:off x="971550" y="4857750"/>
            <a:ext cx="1942653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rPr>
              <a:t>Initial Presentation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Phase 1 Setup</a:t>
            </a:r>
            <a:endParaRPr/>
          </a:p>
        </p:txBody>
      </p:sp>
      <p:sp>
        <p:nvSpPr>
          <p:cNvPr id="374" name="Google Shape;374;p27"/>
          <p:cNvSpPr txBox="1"/>
          <p:nvPr/>
        </p:nvSpPr>
        <p:spPr>
          <a:xfrm>
            <a:off x="3691633" y="2869108"/>
            <a:ext cx="203978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Mar 21</a:t>
            </a:r>
            <a:endParaRPr/>
          </a:p>
        </p:txBody>
      </p:sp>
      <p:sp>
        <p:nvSpPr>
          <p:cNvPr id="375" name="Google Shape;375;p27"/>
          <p:cNvSpPr txBox="1"/>
          <p:nvPr/>
        </p:nvSpPr>
        <p:spPr>
          <a:xfrm>
            <a:off x="3942175" y="3167700"/>
            <a:ext cx="1538700" cy="5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050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rPr>
              <a:t>        Baseline Model     </a:t>
            </a:r>
            <a:endParaRPr sz="1050">
              <a:solidFill>
                <a:srgbClr val="0F172A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50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rPr>
              <a:t>        Implementation</a:t>
            </a:r>
            <a:endParaRPr sz="1050">
              <a:solidFill>
                <a:srgbClr val="0F172A"/>
              </a:solidFill>
              <a:latin typeface="Inter Medium"/>
              <a:ea typeface="Inter Medium"/>
              <a:cs typeface="Inter Medium"/>
              <a:sym typeface="Inter Medium"/>
            </a:endParaRPr>
          </a:p>
          <a:p>
            <a:pPr indent="0" lvl="0" marL="0" marR="0" rtl="0" algn="ctr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0F172A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376" name="Google Shape;376;p27"/>
          <p:cNvSpPr txBox="1"/>
          <p:nvPr/>
        </p:nvSpPr>
        <p:spPr>
          <a:xfrm>
            <a:off x="6460282" y="4562475"/>
            <a:ext cx="203978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Apr 6 &amp; 14</a:t>
            </a:r>
            <a:endParaRPr/>
          </a:p>
        </p:txBody>
      </p:sp>
      <p:sp>
        <p:nvSpPr>
          <p:cNvPr id="377" name="Google Shape;377;p27"/>
          <p:cNvSpPr txBox="1"/>
          <p:nvPr/>
        </p:nvSpPr>
        <p:spPr>
          <a:xfrm>
            <a:off x="6508849" y="4857750"/>
            <a:ext cx="1942653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rPr>
              <a:t>Results &amp; Report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Experiments</a:t>
            </a:r>
            <a:endParaRPr/>
          </a:p>
        </p:txBody>
      </p:sp>
      <p:sp>
        <p:nvSpPr>
          <p:cNvPr id="378" name="Google Shape;378;p27"/>
          <p:cNvSpPr txBox="1"/>
          <p:nvPr/>
        </p:nvSpPr>
        <p:spPr>
          <a:xfrm>
            <a:off x="9228932" y="2869108"/>
            <a:ext cx="203978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Apr 21 - 25</a:t>
            </a:r>
            <a:endParaRPr/>
          </a:p>
        </p:txBody>
      </p:sp>
      <p:sp>
        <p:nvSpPr>
          <p:cNvPr id="379" name="Google Shape;379;p27"/>
          <p:cNvSpPr txBox="1"/>
          <p:nvPr/>
        </p:nvSpPr>
        <p:spPr>
          <a:xfrm>
            <a:off x="9277498" y="3164383"/>
            <a:ext cx="1942653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32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0F172A"/>
                </a:solidFill>
                <a:latin typeface="Inter Medium"/>
                <a:ea typeface="Inter Medium"/>
                <a:cs typeface="Inter Medium"/>
                <a:sym typeface="Inter Medium"/>
              </a:rPr>
              <a:t>Final Demo &amp; Sub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Phase 3 Complete</a:t>
            </a:r>
            <a:endParaRPr/>
          </a:p>
        </p:txBody>
      </p:sp>
      <p:sp>
        <p:nvSpPr>
          <p:cNvPr id="380" name="Google Shape;380;p27"/>
          <p:cNvSpPr txBox="1"/>
          <p:nvPr/>
        </p:nvSpPr>
        <p:spPr>
          <a:xfrm>
            <a:off x="971550" y="962025"/>
            <a:ext cx="11181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Project Timeline (Mar 3 - Apr 25, 2025)</a:t>
            </a:r>
            <a:endParaRPr/>
          </a:p>
        </p:txBody>
      </p:sp>
      <p:sp>
        <p:nvSpPr>
          <p:cNvPr id="381" name="Google Shape;381;p27"/>
          <p:cNvSpPr/>
          <p:nvPr/>
        </p:nvSpPr>
        <p:spPr>
          <a:xfrm>
            <a:off x="771525" y="1002375"/>
            <a:ext cx="76200" cy="381000"/>
          </a:xfrm>
          <a:prstGeom prst="roundRect">
            <a:avLst>
              <a:gd fmla="val 50000" name="adj"/>
            </a:avLst>
          </a:prstGeom>
          <a:solidFill>
            <a:srgbClr val="2563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7"/>
          <p:cNvSpPr/>
          <p:nvPr/>
        </p:nvSpPr>
        <p:spPr>
          <a:xfrm>
            <a:off x="1847626" y="398145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7"/>
          <p:cNvSpPr/>
          <p:nvPr/>
        </p:nvSpPr>
        <p:spPr>
          <a:xfrm>
            <a:off x="4616276" y="398145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7"/>
          <p:cNvSpPr/>
          <p:nvPr/>
        </p:nvSpPr>
        <p:spPr>
          <a:xfrm>
            <a:off x="7384925" y="398145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7"/>
          <p:cNvSpPr/>
          <p:nvPr/>
        </p:nvSpPr>
        <p:spPr>
          <a:xfrm>
            <a:off x="10153575" y="398145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0" name="Google Shape;390;p28" title="Screenshot 2026-03-10 at 10.30.2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7325"/>
            <a:ext cx="11887200" cy="63206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